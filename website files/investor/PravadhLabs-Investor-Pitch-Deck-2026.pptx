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pravadhiq.pravadhlabs.com" TargetMode="External"/><Relationship Id="rId3" Type="http://schemas.openxmlformats.org/officeDocument/2006/relationships/hyperlink" Target="https://pravadhgx.pravadhlabs.com" TargetMode="External"/><Relationship Id="rId4" Type="http://schemas.openxmlformats.org/officeDocument/2006/relationships/hyperlink" Target="https://pravadhpm.pravadhlabs.com" TargetMode="External"/><Relationship Id="rId5" Type="http://schemas.openxmlformats.org/officeDocument/2006/relationships/hyperlink" Target="https://pravadhsi.pravadhlabs.com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mailto:inquire@pravadhlabs.com" TargetMode="External"/><Relationship Id="rId3" Type="http://schemas.openxmlformats.org/officeDocument/2006/relationships/hyperlink" Target="tel:+919998525192" TargetMode="External"/><Relationship Id="rId4" Type="http://schemas.openxmlformats.org/officeDocument/2006/relationships/hyperlink" Target="https://calendly.com/partners-pravadhlabs/30min" TargetMode="External"/><Relationship Id="rId5" Type="http://schemas.openxmlformats.org/officeDocument/2006/relationships/hyperlink" Target="https://pravadhlabs.com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412480" cy="64008"/>
          </a:xfrm>
          <a:prstGeom prst="rect">
            <a:avLst/>
          </a:prstGeom>
          <a:solidFill>
            <a:srgbClr val="1E5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0" y="0"/>
            <a:ext cx="3779215" cy="64008"/>
          </a:xfrm>
          <a:prstGeom prst="rect">
            <a:avLst/>
          </a:prstGeom>
          <a:solidFill>
            <a:srgbClr val="FD9E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30352" y="256032"/>
            <a:ext cx="384048" cy="384048"/>
          </a:xfrm>
          <a:prstGeom prst="roundRect">
            <a:avLst>
              <a:gd name="adj" fmla="val 18000"/>
            </a:avLst>
          </a:prstGeom>
          <a:solidFill>
            <a:srgbClr val="1E5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Georgia"/>
              </a:rPr>
              <a:t>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274320"/>
            <a:ext cx="2926080" cy="347472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800" b="0" i="0">
                <a:solidFill>
                  <a:srgbClr val="F7F7F8"/>
                </a:solidFill>
                <a:latin typeface="Georgia"/>
              </a:rPr>
              <a:t>Pravadh® Labs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35240" y="310896"/>
            <a:ext cx="40233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 i="0">
                <a:solidFill>
                  <a:srgbClr val="FD9E01"/>
                </a:solidFill>
                <a:latin typeface="Consolas"/>
              </a:rPr>
              <a:t>CONFIDENTIAL · INVESTOR DECK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234440"/>
            <a:ext cx="11128248" cy="292608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200" b="0" i="0">
                <a:solidFill>
                  <a:srgbClr val="FD9E01"/>
                </a:solidFill>
                <a:latin typeface="Consolas"/>
              </a:rPr>
              <a:t>THE PROBLEM IN ONE 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554480"/>
            <a:ext cx="11064240" cy="14173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3200" b="0" i="0">
                <a:solidFill>
                  <a:srgbClr val="F7F7F8"/>
                </a:solidFill>
                <a:latin typeface="Georgia"/>
              </a:rPr>
              <a:t>Enterprise work is split across systems.</a:t>
            </a:r>
          </a:p>
          <a:p>
            <a:pPr>
              <a:spcAft>
                <a:spcPts val="0"/>
              </a:spcAft>
            </a:pPr>
            <a:r>
              <a:rPr sz="3200" b="0" i="0">
                <a:solidFill>
                  <a:srgbClr val="FD9E01"/>
                </a:solidFill>
                <a:latin typeface="Georgia"/>
              </a:rPr>
              <a:t>The next action lives in no one’s tool.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3108960"/>
            <a:ext cx="10607040" cy="96012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600" b="0" i="0">
                <a:solidFill>
                  <a:srgbClr val="A9AFC0"/>
                </a:solidFill>
                <a:latin typeface="Calibri"/>
              </a:rPr>
              <a:t>Pravadh® is the control plane for teams who already run CRM, ERP, delivery, and sales. We unify ship, move, and govern on that stack — then queue one next action. Almost no manual work. They still approve before anything moves.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4206240"/>
            <a:ext cx="2670048" cy="1234440"/>
          </a:xfrm>
          <a:prstGeom prst="roundRect">
            <a:avLst>
              <a:gd name="adj" fmla="val 8000"/>
            </a:avLst>
          </a:prstGeom>
          <a:solidFill>
            <a:srgbClr val="141F3D"/>
          </a:solidFill>
          <a:ln w="12700">
            <a:solidFill>
              <a:srgbClr val="232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4315968"/>
            <a:ext cx="2414016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0" i="0">
                <a:solidFill>
                  <a:srgbClr val="FD9E01"/>
                </a:solidFill>
                <a:latin typeface="Georgia"/>
              </a:rPr>
              <a:t>Who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9AFC0"/>
                </a:solidFill>
                <a:latin typeface="Calibri"/>
              </a:rPr>
              <a:t>People who own the CRM org — architects, RevOps, IT, SIs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28416" y="4206240"/>
            <a:ext cx="2670048" cy="1234440"/>
          </a:xfrm>
          <a:prstGeom prst="roundRect">
            <a:avLst>
              <a:gd name="adj" fmla="val 8000"/>
            </a:avLst>
          </a:prstGeom>
          <a:solidFill>
            <a:srgbClr val="141F3D"/>
          </a:solidFill>
          <a:ln w="12700">
            <a:solidFill>
              <a:srgbClr val="232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4315968"/>
            <a:ext cx="2414016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0" i="0">
                <a:solidFill>
                  <a:srgbClr val="FD9E01"/>
                </a:solidFill>
                <a:latin typeface="Georgia"/>
              </a:rPr>
              <a:t>What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9AFC0"/>
                </a:solidFill>
                <a:latin typeface="Calibri"/>
              </a:rPr>
              <a:t>Four live products on one rail — IQ, GovernX, PM, SI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4206240"/>
            <a:ext cx="2670048" cy="1234440"/>
          </a:xfrm>
          <a:prstGeom prst="roundRect">
            <a:avLst>
              <a:gd name="adj" fmla="val 8000"/>
            </a:avLst>
          </a:prstGeom>
          <a:solidFill>
            <a:srgbClr val="141F3D"/>
          </a:solidFill>
          <a:ln w="12700">
            <a:solidFill>
              <a:srgbClr val="232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4" y="4315968"/>
            <a:ext cx="2414016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0" i="0">
                <a:solidFill>
                  <a:srgbClr val="FD9E01"/>
                </a:solidFill>
                <a:latin typeface="Georgia"/>
              </a:rPr>
              <a:t>How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9AFC0"/>
                </a:solidFill>
                <a:latin typeface="Calibri"/>
              </a:rPr>
              <a:t>Sit in the mess. Do not rip the stack out.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24544" y="4206240"/>
            <a:ext cx="2670048" cy="1234440"/>
          </a:xfrm>
          <a:prstGeom prst="roundRect">
            <a:avLst>
              <a:gd name="adj" fmla="val 8000"/>
            </a:avLst>
          </a:prstGeom>
          <a:solidFill>
            <a:srgbClr val="141F3D"/>
          </a:solidFill>
          <a:ln w="12700">
            <a:solidFill>
              <a:srgbClr val="232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70848" y="4315968"/>
            <a:ext cx="2414016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0" i="0">
                <a:solidFill>
                  <a:srgbClr val="FD9E01"/>
                </a:solidFill>
                <a:latin typeface="Georgia"/>
              </a:rPr>
              <a:t>Ask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9AFC0"/>
                </a:solidFill>
                <a:latin typeface="Calibri"/>
              </a:rPr>
              <a:t>₹3–5 Cr to scale GTM on product that already ships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6510528"/>
            <a:ext cx="6766560" cy="256032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100" b="0" i="0">
                <a:solidFill>
                  <a:srgbClr val="868A95"/>
                </a:solidFill>
                <a:latin typeface="Calibri"/>
              </a:rPr>
              <a:t>Pravadh Labs Private Limited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6510528"/>
            <a:ext cx="3977639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 i="0">
                <a:solidFill>
                  <a:srgbClr val="868A95"/>
                </a:solidFill>
                <a:latin typeface="Calibri"/>
              </a:rPr>
              <a:t>pravadhlabs.com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412480" cy="64008"/>
          </a:xfrm>
          <a:prstGeom prst="rect">
            <a:avLst/>
          </a:prstGeom>
          <a:solidFill>
            <a:srgbClr val="1E5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0" y="0"/>
            <a:ext cx="3779215" cy="64008"/>
          </a:xfrm>
          <a:prstGeom prst="rect">
            <a:avLst/>
          </a:prstGeom>
          <a:solidFill>
            <a:srgbClr val="FD9E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8412480" cy="292608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100" b="0" i="0">
                <a:solidFill>
                  <a:srgbClr val="FD9E01"/>
                </a:solidFill>
                <a:latin typeface="Consolas"/>
              </a:rPr>
              <a:t>THE PROBLEM WE SOLVE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256032"/>
            <a:ext cx="14630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0" i="0">
                <a:solidFill>
                  <a:srgbClr val="868A95"/>
                </a:solidFill>
                <a:latin typeface="Consolas"/>
              </a:rPr>
              <a:t>02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566928"/>
            <a:ext cx="11128248" cy="6400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0"/>
              </a:spcAft>
            </a:pPr>
            <a:r>
              <a:rPr sz="2800" b="0" i="0">
                <a:solidFill>
                  <a:srgbClr val="F7F7F8"/>
                </a:solidFill>
                <a:latin typeface="Georgia"/>
              </a:rPr>
              <a:t>A deploy can succeed and the release still fails.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261872"/>
            <a:ext cx="10424160" cy="6400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0"/>
              </a:spcAft>
            </a:pPr>
            <a:r>
              <a:rPr sz="1600" b="0" i="0">
                <a:solidFill>
                  <a:srgbClr val="A9AFC0"/>
                </a:solidFill>
                <a:latin typeface="Calibri"/>
              </a:rPr>
              <a:t>The work is already happening. It is just not in one place — so nobody can see the next action, and nobody owns the trail.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" y="2011680"/>
            <a:ext cx="3602736" cy="4114800"/>
          </a:xfrm>
          <a:prstGeom prst="roundRect">
            <a:avLst>
              <a:gd name="adj" fmla="val 6000"/>
            </a:avLst>
          </a:prstGeom>
          <a:solidFill>
            <a:srgbClr val="141F3D"/>
          </a:solidFill>
          <a:ln w="12700">
            <a:solidFill>
              <a:srgbClr val="232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0352" y="2011680"/>
            <a:ext cx="3522736" cy="41148"/>
          </a:xfrm>
          <a:prstGeom prst="rect">
            <a:avLst/>
          </a:prstGeom>
          <a:solidFill>
            <a:srgbClr val="1E5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" y="2121408"/>
            <a:ext cx="3310128" cy="39136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1E5CEE"/>
                </a:solidFill>
                <a:latin typeface="Consolas"/>
              </a:rPr>
              <a:t>WHAT BREAKS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7F7F8"/>
                </a:solidFill>
                <a:latin typeface="Calibri"/>
              </a:rPr>
              <a:t>Three jobs. Three owners. No lock.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A9AFC0"/>
                </a:solidFill>
                <a:latin typeface="Calibri"/>
              </a:rPr>
              <a:t>Code ships in one tool. Records move in another. The audit sits in a spreadsheet. Delivery wears someone else’s name. The next move is in someone’s memory.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79392" y="2011680"/>
            <a:ext cx="3602736" cy="4114800"/>
          </a:xfrm>
          <a:prstGeom prst="roundRect">
            <a:avLst>
              <a:gd name="adj" fmla="val 6000"/>
            </a:avLst>
          </a:prstGeom>
          <a:solidFill>
            <a:srgbClr val="141F3D"/>
          </a:solidFill>
          <a:ln w="12700">
            <a:solidFill>
              <a:srgbClr val="232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19392" y="2011680"/>
            <a:ext cx="3522736" cy="41148"/>
          </a:xfrm>
          <a:prstGeom prst="rect">
            <a:avLst/>
          </a:prstGeom>
          <a:solidFill>
            <a:srgbClr val="FD9E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25696" y="2121408"/>
            <a:ext cx="3310128" cy="39136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1E5CEE"/>
                </a:solidFill>
                <a:latin typeface="Consolas"/>
              </a:rPr>
              <a:t>WHAT IT COSTS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7F7F8"/>
                </a:solidFill>
                <a:latin typeface="Calibri"/>
              </a:rPr>
              <a:t>Busywork, drift, and rework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A9AFC0"/>
                </a:solidFill>
                <a:latin typeface="Calibri"/>
              </a:rPr>
              <a:t>Skipped loads. Two owners on one issue. Policy found on Friday. Mapping knowledge walks out with people. Alerts arrive after the fact.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8432" y="2011680"/>
            <a:ext cx="3602736" cy="4114800"/>
          </a:xfrm>
          <a:prstGeom prst="roundRect">
            <a:avLst>
              <a:gd name="adj" fmla="val 6000"/>
            </a:avLst>
          </a:prstGeom>
          <a:solidFill>
            <a:srgbClr val="141F3D"/>
          </a:solidFill>
          <a:ln w="12700">
            <a:solidFill>
              <a:srgbClr val="232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8432" y="2011680"/>
            <a:ext cx="3522736" cy="41148"/>
          </a:xfrm>
          <a:prstGeom prst="rect">
            <a:avLst/>
          </a:prstGeom>
          <a:solidFill>
            <a:srgbClr val="1E5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74736" y="2121408"/>
            <a:ext cx="3310128" cy="39136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1E5CEE"/>
                </a:solidFill>
                <a:latin typeface="Consolas"/>
              </a:rPr>
              <a:t>WHAT AI DOES NOT FIX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7F7F8"/>
                </a:solidFill>
                <a:latin typeface="Calibri"/>
              </a:rPr>
              <a:t>A chat beside the stack is another silo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A9AFC0"/>
                </a:solidFill>
                <a:latin typeface="Calibri"/>
              </a:rPr>
              <a:t>Agents are a given. If they cannot see deploy, data, and policy together, they cannot tell you what to do next — or wait for you to approve it.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6510528"/>
            <a:ext cx="6766560" cy="256032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100" b="0" i="0">
                <a:solidFill>
                  <a:srgbClr val="868A95"/>
                </a:solidFill>
                <a:latin typeface="Calibri"/>
              </a:rPr>
              <a:t>Pravadh Labs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6510528"/>
            <a:ext cx="3977639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 i="0">
                <a:solidFill>
                  <a:srgbClr val="868A95"/>
                </a:solidFill>
                <a:latin typeface="Calibri"/>
              </a:rPr>
              <a:t>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412480" cy="64008"/>
          </a:xfrm>
          <a:prstGeom prst="rect">
            <a:avLst/>
          </a:prstGeom>
          <a:solidFill>
            <a:srgbClr val="1E5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0" y="0"/>
            <a:ext cx="3779215" cy="64008"/>
          </a:xfrm>
          <a:prstGeom prst="rect">
            <a:avLst/>
          </a:prstGeom>
          <a:solidFill>
            <a:srgbClr val="FD9E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8412480" cy="292608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100" b="0" i="0">
                <a:solidFill>
                  <a:srgbClr val="1E5CEE"/>
                </a:solidFill>
                <a:latin typeface="Consolas"/>
              </a:rPr>
              <a:t>WHO BUYS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256032"/>
            <a:ext cx="14630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0" i="0">
                <a:solidFill>
                  <a:srgbClr val="868A95"/>
                </a:solidFill>
                <a:latin typeface="Consolas"/>
              </a:rPr>
              <a:t>03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566928"/>
            <a:ext cx="11128248" cy="566928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0"/>
              </a:spcAft>
            </a:pPr>
            <a:r>
              <a:rPr sz="2800" b="0" i="0">
                <a:solidFill>
                  <a:srgbClr val="0B142A"/>
                </a:solidFill>
                <a:latin typeface="Georgia"/>
              </a:rPr>
              <a:t>If you own the CRM org, you are the customer.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170432"/>
            <a:ext cx="10424160" cy="4572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0"/>
              </a:spcAft>
            </a:pPr>
            <a:r>
              <a:rPr sz="1500" b="0" i="0">
                <a:solidFill>
                  <a:srgbClr val="5A6070"/>
                </a:solidFill>
                <a:latin typeface="Calibri"/>
              </a:rPr>
              <a:t>One buyer set. Four jobs. The entry product is whichever job hurts this quarter — not a suite they have to swallow.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" y="1737360"/>
            <a:ext cx="5468112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4D4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0352" y="1737360"/>
            <a:ext cx="5388112" cy="41148"/>
          </a:xfrm>
          <a:prstGeom prst="rect">
            <a:avLst/>
          </a:prstGeom>
          <a:solidFill>
            <a:srgbClr val="1E5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" y="1847088"/>
            <a:ext cx="5175504" cy="1490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1E5CEE"/>
                </a:solidFill>
                <a:latin typeface="Consolas"/>
              </a:rPr>
              <a:t>01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B142A"/>
                </a:solidFill>
                <a:latin typeface="Calibri"/>
              </a:rPr>
              <a:t>CRM architects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A6070"/>
                </a:solidFill>
                <a:latin typeface="Calibri"/>
              </a:rPr>
              <a:t>Platform owners who still run deploy, migrate, and govern as three workstreams. They buy PravadhIQ.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63056" y="1737360"/>
            <a:ext cx="5468112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4D4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03056" y="1737360"/>
            <a:ext cx="5388112" cy="41148"/>
          </a:xfrm>
          <a:prstGeom prst="rect">
            <a:avLst/>
          </a:prstGeom>
          <a:solidFill>
            <a:srgbClr val="FD9E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847088"/>
            <a:ext cx="5175504" cy="1490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1E5CEE"/>
                </a:solidFill>
                <a:latin typeface="Consolas"/>
              </a:rPr>
              <a:t>02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B142A"/>
                </a:solidFill>
                <a:latin typeface="Calibri"/>
              </a:rPr>
              <a:t>RevOps &amp; IT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A6070"/>
                </a:solidFill>
                <a:latin typeface="Calibri"/>
              </a:rPr>
              <a:t>Teams who must keep CRM, ERP, and finance consistent — and explain drift. They buy GovernX.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352" y="1697340278160"/>
            <a:ext cx="5468112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4D4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70352" y="1697340278160"/>
            <a:ext cx="5388112" cy="41148"/>
          </a:xfrm>
          <a:prstGeom prst="rect">
            <a:avLst/>
          </a:prstGeom>
          <a:solidFill>
            <a:srgbClr val="1E5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" y="1697340387888"/>
            <a:ext cx="5175504" cy="1490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1E5CEE"/>
                </a:solidFill>
                <a:latin typeface="Consolas"/>
              </a:rPr>
              <a:t>03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B142A"/>
                </a:solidFill>
                <a:latin typeface="Calibri"/>
              </a:rPr>
              <a:t>Implementation SIs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A6070"/>
                </a:solidFill>
                <a:latin typeface="Calibri"/>
              </a:rPr>
              <a:t>Consultancies delivering under their brand, on their domain or servers. They buy Pravadh PM and resell IQ.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63056" y="1697340278160"/>
            <a:ext cx="5468112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4D4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3056" y="1697340278160"/>
            <a:ext cx="5388112" cy="41148"/>
          </a:xfrm>
          <a:prstGeom prst="rect">
            <a:avLst/>
          </a:prstGeom>
          <a:solidFill>
            <a:srgbClr val="FD9E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697340387888"/>
            <a:ext cx="5175504" cy="1490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1E5CEE"/>
                </a:solidFill>
                <a:latin typeface="Consolas"/>
              </a:rPr>
              <a:t>04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B142A"/>
                </a:solidFill>
                <a:latin typeface="Calibri"/>
              </a:rPr>
              <a:t>Sales / RevOps leaders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A6070"/>
                </a:solidFill>
                <a:latin typeface="Calibri"/>
              </a:rPr>
              <a:t>Need who, why, why now — written back to the CRM they already run. They buy Pravadh SI.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" y="5532120"/>
            <a:ext cx="11128248" cy="77724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400" b="0" i="0">
                <a:solidFill>
                  <a:srgbClr val="5A6070"/>
                </a:solidFill>
                <a:latin typeface="Calibri"/>
              </a:rPr>
              <a:t>Not a rip-and-replace buyer. Not a “new system of record” buyer. They keep CRM, ERP, finance, and delivery tools. They buy the process that sits between them.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" y="6510528"/>
            <a:ext cx="6766560" cy="256032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100" b="0" i="0">
                <a:solidFill>
                  <a:srgbClr val="868A95"/>
                </a:solidFill>
                <a:latin typeface="Calibri"/>
              </a:rPr>
              <a:t>Pravadh Labs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0" y="6510528"/>
            <a:ext cx="3977639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 i="0">
                <a:solidFill>
                  <a:srgbClr val="868A95"/>
                </a:solidFill>
                <a:latin typeface="Calibri"/>
              </a:rPr>
              <a:t>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412480" cy="64008"/>
          </a:xfrm>
          <a:prstGeom prst="rect">
            <a:avLst/>
          </a:prstGeom>
          <a:solidFill>
            <a:srgbClr val="1E5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0" y="0"/>
            <a:ext cx="3779215" cy="64008"/>
          </a:xfrm>
          <a:prstGeom prst="rect">
            <a:avLst/>
          </a:prstGeom>
          <a:solidFill>
            <a:srgbClr val="FD9E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8412480" cy="292608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100" b="0" i="0">
                <a:solidFill>
                  <a:srgbClr val="FD9E01"/>
                </a:solidFill>
                <a:latin typeface="Consolas"/>
              </a:rPr>
              <a:t>HOW THE PRODUCT SOLVES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256032"/>
            <a:ext cx="14630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0" i="0">
                <a:solidFill>
                  <a:srgbClr val="868A95"/>
                </a:solidFill>
                <a:latin typeface="Consolas"/>
              </a:rPr>
              <a:t>04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566928"/>
            <a:ext cx="11128248" cy="7772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0"/>
              </a:spcAft>
            </a:pPr>
            <a:r>
              <a:rPr sz="2600" b="0" i="0">
                <a:solidFill>
                  <a:srgbClr val="F7F7F8"/>
                </a:solidFill>
                <a:latin typeface="Georgia"/>
              </a:rPr>
              <a:t>Each product is one hard job, completed. The rail is the expansion.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30352" y="1481328"/>
          <a:ext cx="11128248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3246120"/>
                <a:gridCol w="3794760"/>
                <a:gridCol w="1938528"/>
              </a:tblGrid>
              <a:tr h="795527">
                <a:tc>
                  <a:txBody>
                    <a:bodyPr wrap="square" anchor="ctr"/>
                    <a:lstStyle/>
                    <a:p>
                      <a:pPr algn="l"/>
                      <a:r>
                        <a:rPr sz="1000" b="1" i="0">
                          <a:solidFill>
                            <a:srgbClr val="868A95"/>
                          </a:solidFill>
                          <a:latin typeface="Consolas"/>
                        </a:rPr>
                        <a:t>CUSTOMER</a:t>
                      </a:r>
                    </a:p>
                  </a:txBody>
                  <a:tcPr marL="91440" marR="91440" marT="54864" marB="54864">
                    <a:solidFill>
                      <a:srgbClr val="141F3D"/>
                    </a:solidFill>
                    <a:lnL w="7620" cap="flat" cmpd="sng" algn="ctr">
                      <a:solidFill>
                        <a:srgbClr val="232F52"/>
                      </a:solidFill>
                      <a:prstDash val="solid"/>
                    </a:lnL>
                    <a:lnR w="7620" cap="flat" cmpd="sng" algn="ctr">
                      <a:solidFill>
                        <a:srgbClr val="232F52"/>
                      </a:solidFill>
                      <a:prstDash val="solid"/>
                    </a:lnR>
                    <a:lnT w="7620" cap="flat" cmpd="sng" algn="ctr">
                      <a:solidFill>
                        <a:srgbClr val="232F52"/>
                      </a:solidFill>
                      <a:prstDash val="solid"/>
                    </a:lnT>
                    <a:lnB w="7620" cap="flat" cmpd="sng" algn="ctr">
                      <a:solidFill>
                        <a:srgbClr val="232F52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000" b="1" i="0">
                          <a:solidFill>
                            <a:srgbClr val="868A95"/>
                          </a:solidFill>
                          <a:latin typeface="Consolas"/>
                        </a:rPr>
                        <a:t>THE JOB THAT HURTS</a:t>
                      </a:r>
                    </a:p>
                  </a:txBody>
                  <a:tcPr marL="91440" marR="91440" marT="54864" marB="54864">
                    <a:solidFill>
                      <a:srgbClr val="141F3D"/>
                    </a:solidFill>
                    <a:lnL w="7620" cap="flat" cmpd="sng" algn="ctr">
                      <a:solidFill>
                        <a:srgbClr val="232F52"/>
                      </a:solidFill>
                      <a:prstDash val="solid"/>
                    </a:lnL>
                    <a:lnR w="7620" cap="flat" cmpd="sng" algn="ctr">
                      <a:solidFill>
                        <a:srgbClr val="232F52"/>
                      </a:solidFill>
                      <a:prstDash val="solid"/>
                    </a:lnR>
                    <a:lnT w="7620" cap="flat" cmpd="sng" algn="ctr">
                      <a:solidFill>
                        <a:srgbClr val="232F52"/>
                      </a:solidFill>
                      <a:prstDash val="solid"/>
                    </a:lnT>
                    <a:lnB w="7620" cap="flat" cmpd="sng" algn="ctr">
                      <a:solidFill>
                        <a:srgbClr val="232F52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000" b="1" i="0">
                          <a:solidFill>
                            <a:srgbClr val="868A95"/>
                          </a:solidFill>
                          <a:latin typeface="Consolas"/>
                        </a:rPr>
                        <a:t>WHAT PRAVADH DOES</a:t>
                      </a:r>
                    </a:p>
                  </a:txBody>
                  <a:tcPr marL="91440" marR="91440" marT="54864" marB="54864">
                    <a:solidFill>
                      <a:srgbClr val="141F3D"/>
                    </a:solidFill>
                    <a:lnL w="7620" cap="flat" cmpd="sng" algn="ctr">
                      <a:solidFill>
                        <a:srgbClr val="232F52"/>
                      </a:solidFill>
                      <a:prstDash val="solid"/>
                    </a:lnL>
                    <a:lnR w="7620" cap="flat" cmpd="sng" algn="ctr">
                      <a:solidFill>
                        <a:srgbClr val="232F52"/>
                      </a:solidFill>
                      <a:prstDash val="solid"/>
                    </a:lnR>
                    <a:lnT w="7620" cap="flat" cmpd="sng" algn="ctr">
                      <a:solidFill>
                        <a:srgbClr val="232F52"/>
                      </a:solidFill>
                      <a:prstDash val="solid"/>
                    </a:lnT>
                    <a:lnB w="7620" cap="flat" cmpd="sng" algn="ctr">
                      <a:solidFill>
                        <a:srgbClr val="232F52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000" b="1" i="0">
                          <a:solidFill>
                            <a:srgbClr val="868A95"/>
                          </a:solidFill>
                          <a:latin typeface="Consolas"/>
                        </a:rPr>
                        <a:t>THEY STILL</a:t>
                      </a:r>
                    </a:p>
                  </a:txBody>
                  <a:tcPr marL="91440" marR="91440" marT="54864" marB="54864">
                    <a:solidFill>
                      <a:srgbClr val="141F3D"/>
                    </a:solidFill>
                    <a:lnL w="7620" cap="flat" cmpd="sng" algn="ctr">
                      <a:solidFill>
                        <a:srgbClr val="232F52"/>
                      </a:solidFill>
                      <a:prstDash val="solid"/>
                    </a:lnL>
                    <a:lnR w="7620" cap="flat" cmpd="sng" algn="ctr">
                      <a:solidFill>
                        <a:srgbClr val="232F52"/>
                      </a:solidFill>
                      <a:prstDash val="solid"/>
                    </a:lnR>
                    <a:lnT w="7620" cap="flat" cmpd="sng" algn="ctr">
                      <a:solidFill>
                        <a:srgbClr val="232F52"/>
                      </a:solidFill>
                      <a:prstDash val="solid"/>
                    </a:lnT>
                    <a:lnB w="7620" cap="flat" cmpd="sng" algn="ctr">
                      <a:solidFill>
                        <a:srgbClr val="232F52"/>
                      </a:solidFill>
                      <a:prstDash val="solid"/>
                    </a:lnB>
                  </a:tcPr>
                </a:tc>
              </a:tr>
              <a:tr h="795527">
                <a:tc>
                  <a:txBody>
                    <a:bodyPr wrap="square" anchor="ctr"/>
                    <a:lstStyle/>
                    <a:p>
                      <a:pPr algn="l"/>
                      <a:r>
                        <a:rPr sz="1300" b="0" i="0">
                          <a:solidFill>
                            <a:srgbClr val="A9AFC0"/>
                          </a:solidFill>
                          <a:latin typeface="Calibri"/>
                        </a:rPr>
                        <a:t>Architect / SI</a:t>
                      </a:r>
                    </a:p>
                  </a:txBody>
                  <a:tcPr marL="91440" marR="91440" marT="54864" marB="54864">
                    <a:solidFill>
                      <a:srgbClr val="0B142A"/>
                    </a:solidFill>
                    <a:lnL w="7620" cap="flat" cmpd="sng" algn="ctr">
                      <a:solidFill>
                        <a:srgbClr val="232F52"/>
                      </a:solidFill>
                      <a:prstDash val="solid"/>
                    </a:lnL>
                    <a:lnR w="7620" cap="flat" cmpd="sng" algn="ctr">
                      <a:solidFill>
                        <a:srgbClr val="232F52"/>
                      </a:solidFill>
                      <a:prstDash val="solid"/>
                    </a:lnR>
                    <a:lnT w="7620" cap="flat" cmpd="sng" algn="ctr">
                      <a:solidFill>
                        <a:srgbClr val="232F52"/>
                      </a:solidFill>
                      <a:prstDash val="solid"/>
                    </a:lnT>
                    <a:lnB w="7620" cap="flat" cmpd="sng" algn="ctr">
                      <a:solidFill>
                        <a:srgbClr val="232F52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300" b="0" i="0">
                          <a:solidFill>
                            <a:srgbClr val="A9AFC0"/>
                          </a:solidFill>
                          <a:latin typeface="Calibri"/>
                        </a:rPr>
                        <a:t>Ship, move, and govern as three tools</a:t>
                      </a:r>
                    </a:p>
                  </a:txBody>
                  <a:tcPr marL="91440" marR="91440" marT="54864" marB="54864">
                    <a:solidFill>
                      <a:srgbClr val="0B142A"/>
                    </a:solidFill>
                    <a:lnL w="7620" cap="flat" cmpd="sng" algn="ctr">
                      <a:solidFill>
                        <a:srgbClr val="232F52"/>
                      </a:solidFill>
                      <a:prstDash val="solid"/>
                    </a:lnL>
                    <a:lnR w="7620" cap="flat" cmpd="sng" algn="ctr">
                      <a:solidFill>
                        <a:srgbClr val="232F52"/>
                      </a:solidFill>
                      <a:prstDash val="solid"/>
                    </a:lnR>
                    <a:lnT w="7620" cap="flat" cmpd="sng" algn="ctr">
                      <a:solidFill>
                        <a:srgbClr val="232F52"/>
                      </a:solidFill>
                      <a:prstDash val="solid"/>
                    </a:lnT>
                    <a:lnB w="7620" cap="flat" cmpd="sng" algn="ctr">
                      <a:solidFill>
                        <a:srgbClr val="232F52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 i="0">
                          <a:solidFill>
                            <a:srgbClr val="FD9E01"/>
                          </a:solidFill>
                          <a:latin typeface="Consolas"/>
                        </a:rPr>
                        <a:t>IQ  </a:t>
                      </a:r>
                      <a:r>
                        <a:rPr sz="1300" b="0" i="0">
                          <a:solidFill>
                            <a:srgbClr val="F7F7F8"/>
                          </a:solidFill>
                          <a:latin typeface="Calibri"/>
                        </a:rPr>
                        <a:t>One timeline — validate, map, audit, rollback</a:t>
                      </a:r>
                    </a:p>
                  </a:txBody>
                  <a:tcPr marL="91440" marR="91440" marT="54864" marB="54864">
                    <a:solidFill>
                      <a:srgbClr val="0B142A"/>
                    </a:solidFill>
                    <a:lnL w="7620" cap="flat" cmpd="sng" algn="ctr">
                      <a:solidFill>
                        <a:srgbClr val="232F52"/>
                      </a:solidFill>
                      <a:prstDash val="solid"/>
                    </a:lnL>
                    <a:lnR w="7620" cap="flat" cmpd="sng" algn="ctr">
                      <a:solidFill>
                        <a:srgbClr val="232F52"/>
                      </a:solidFill>
                      <a:prstDash val="solid"/>
                    </a:lnR>
                    <a:lnT w="7620" cap="flat" cmpd="sng" algn="ctr">
                      <a:solidFill>
                        <a:srgbClr val="232F52"/>
                      </a:solidFill>
                      <a:prstDash val="solid"/>
                    </a:lnT>
                    <a:lnB w="7620" cap="flat" cmpd="sng" algn="ctr">
                      <a:solidFill>
                        <a:srgbClr val="232F52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300" b="1" i="0">
                          <a:solidFill>
                            <a:srgbClr val="F7F7F8"/>
                          </a:solidFill>
                          <a:latin typeface="Calibri"/>
                        </a:rPr>
                        <a:t>Keep the CRM</a:t>
                      </a:r>
                    </a:p>
                  </a:txBody>
                  <a:tcPr marL="91440" marR="91440" marT="54864" marB="54864">
                    <a:solidFill>
                      <a:srgbClr val="0B142A"/>
                    </a:solidFill>
                    <a:lnL w="7620" cap="flat" cmpd="sng" algn="ctr">
                      <a:solidFill>
                        <a:srgbClr val="232F52"/>
                      </a:solidFill>
                      <a:prstDash val="solid"/>
                    </a:lnL>
                    <a:lnR w="7620" cap="flat" cmpd="sng" algn="ctr">
                      <a:solidFill>
                        <a:srgbClr val="232F52"/>
                      </a:solidFill>
                      <a:prstDash val="solid"/>
                    </a:lnR>
                    <a:lnT w="7620" cap="flat" cmpd="sng" algn="ctr">
                      <a:solidFill>
                        <a:srgbClr val="232F52"/>
                      </a:solidFill>
                      <a:prstDash val="solid"/>
                    </a:lnT>
                    <a:lnB w="7620" cap="flat" cmpd="sng" algn="ctr">
                      <a:solidFill>
                        <a:srgbClr val="232F52"/>
                      </a:solidFill>
                      <a:prstDash val="solid"/>
                    </a:lnB>
                  </a:tcPr>
                </a:tc>
              </a:tr>
              <a:tr h="795527">
                <a:tc>
                  <a:txBody>
                    <a:bodyPr wrap="square" anchor="ctr"/>
                    <a:lstStyle/>
                    <a:p>
                      <a:pPr algn="l"/>
                      <a:r>
                        <a:rPr sz="1300" b="0" i="0">
                          <a:solidFill>
                            <a:srgbClr val="A9AFC0"/>
                          </a:solidFill>
                          <a:latin typeface="Calibri"/>
                        </a:rPr>
                        <a:t>RevOps / data / finance</a:t>
                      </a:r>
                    </a:p>
                  </a:txBody>
                  <a:tcPr marL="91440" marR="91440" marT="54864" marB="54864">
                    <a:solidFill>
                      <a:srgbClr val="0B142A"/>
                    </a:solidFill>
                    <a:lnL w="7620" cap="flat" cmpd="sng" algn="ctr">
                      <a:solidFill>
                        <a:srgbClr val="232F52"/>
                      </a:solidFill>
                      <a:prstDash val="solid"/>
                    </a:lnL>
                    <a:lnR w="7620" cap="flat" cmpd="sng" algn="ctr">
                      <a:solidFill>
                        <a:srgbClr val="232F52"/>
                      </a:solidFill>
                      <a:prstDash val="solid"/>
                    </a:lnR>
                    <a:lnT w="7620" cap="flat" cmpd="sng" algn="ctr">
                      <a:solidFill>
                        <a:srgbClr val="232F52"/>
                      </a:solidFill>
                      <a:prstDash val="solid"/>
                    </a:lnT>
                    <a:lnB w="7620" cap="flat" cmpd="sng" algn="ctr">
                      <a:solidFill>
                        <a:srgbClr val="232F52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300" b="0" i="0">
                          <a:solidFill>
                            <a:srgbClr val="A9AFC0"/>
                          </a:solidFill>
                          <a:latin typeface="Calibri"/>
                        </a:rPr>
                        <a:t>CRM, ERP, and policy disagree</a:t>
                      </a:r>
                    </a:p>
                  </a:txBody>
                  <a:tcPr marL="91440" marR="91440" marT="54864" marB="54864">
                    <a:solidFill>
                      <a:srgbClr val="0B142A"/>
                    </a:solidFill>
                    <a:lnL w="7620" cap="flat" cmpd="sng" algn="ctr">
                      <a:solidFill>
                        <a:srgbClr val="232F52"/>
                      </a:solidFill>
                      <a:prstDash val="solid"/>
                    </a:lnL>
                    <a:lnR w="7620" cap="flat" cmpd="sng" algn="ctr">
                      <a:solidFill>
                        <a:srgbClr val="232F52"/>
                      </a:solidFill>
                      <a:prstDash val="solid"/>
                    </a:lnR>
                    <a:lnT w="7620" cap="flat" cmpd="sng" algn="ctr">
                      <a:solidFill>
                        <a:srgbClr val="232F52"/>
                      </a:solidFill>
                      <a:prstDash val="solid"/>
                    </a:lnT>
                    <a:lnB w="7620" cap="flat" cmpd="sng" algn="ctr">
                      <a:solidFill>
                        <a:srgbClr val="232F52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 i="0">
                          <a:solidFill>
                            <a:srgbClr val="FD9E01"/>
                          </a:solidFill>
                          <a:latin typeface="Consolas"/>
                        </a:rPr>
                        <a:t>GX  </a:t>
                      </a:r>
                      <a:r>
                        <a:rPr sz="1300" b="0" i="0">
                          <a:solidFill>
                            <a:srgbClr val="F7F7F8"/>
                          </a:solidFill>
                          <a:latin typeface="Calibri"/>
                        </a:rPr>
                        <a:t>One pipeline + EMIE on the canvas</a:t>
                      </a:r>
                    </a:p>
                  </a:txBody>
                  <a:tcPr marL="91440" marR="91440" marT="54864" marB="54864">
                    <a:solidFill>
                      <a:srgbClr val="0B142A"/>
                    </a:solidFill>
                    <a:lnL w="7620" cap="flat" cmpd="sng" algn="ctr">
                      <a:solidFill>
                        <a:srgbClr val="232F52"/>
                      </a:solidFill>
                      <a:prstDash val="solid"/>
                    </a:lnL>
                    <a:lnR w="7620" cap="flat" cmpd="sng" algn="ctr">
                      <a:solidFill>
                        <a:srgbClr val="232F52"/>
                      </a:solidFill>
                      <a:prstDash val="solid"/>
                    </a:lnR>
                    <a:lnT w="7620" cap="flat" cmpd="sng" algn="ctr">
                      <a:solidFill>
                        <a:srgbClr val="232F52"/>
                      </a:solidFill>
                      <a:prstDash val="solid"/>
                    </a:lnT>
                    <a:lnB w="7620" cap="flat" cmpd="sng" algn="ctr">
                      <a:solidFill>
                        <a:srgbClr val="232F52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300" b="1" i="0">
                          <a:solidFill>
                            <a:srgbClr val="F7F7F8"/>
                          </a:solidFill>
                          <a:latin typeface="Calibri"/>
                        </a:rPr>
                        <a:t>Approve the fix</a:t>
                      </a:r>
                    </a:p>
                  </a:txBody>
                  <a:tcPr marL="91440" marR="91440" marT="54864" marB="54864">
                    <a:solidFill>
                      <a:srgbClr val="0B142A"/>
                    </a:solidFill>
                    <a:lnL w="7620" cap="flat" cmpd="sng" algn="ctr">
                      <a:solidFill>
                        <a:srgbClr val="232F52"/>
                      </a:solidFill>
                      <a:prstDash val="solid"/>
                    </a:lnL>
                    <a:lnR w="7620" cap="flat" cmpd="sng" algn="ctr">
                      <a:solidFill>
                        <a:srgbClr val="232F52"/>
                      </a:solidFill>
                      <a:prstDash val="solid"/>
                    </a:lnR>
                    <a:lnT w="7620" cap="flat" cmpd="sng" algn="ctr">
                      <a:solidFill>
                        <a:srgbClr val="232F52"/>
                      </a:solidFill>
                      <a:prstDash val="solid"/>
                    </a:lnT>
                    <a:lnB w="7620" cap="flat" cmpd="sng" algn="ctr">
                      <a:solidFill>
                        <a:srgbClr val="232F52"/>
                      </a:solidFill>
                      <a:prstDash val="solid"/>
                    </a:lnB>
                  </a:tcPr>
                </a:tc>
              </a:tr>
              <a:tr h="795527">
                <a:tc>
                  <a:txBody>
                    <a:bodyPr wrap="square" anchor="ctr"/>
                    <a:lstStyle/>
                    <a:p>
                      <a:pPr algn="l"/>
                      <a:r>
                        <a:rPr sz="1300" b="0" i="0">
                          <a:solidFill>
                            <a:srgbClr val="A9AFC0"/>
                          </a:solidFill>
                          <a:latin typeface="Calibri"/>
                        </a:rPr>
                        <a:t>Consultancy</a:t>
                      </a:r>
                    </a:p>
                  </a:txBody>
                  <a:tcPr marL="91440" marR="91440" marT="54864" marB="54864">
                    <a:solidFill>
                      <a:srgbClr val="0B142A"/>
                    </a:solidFill>
                    <a:lnL w="7620" cap="flat" cmpd="sng" algn="ctr">
                      <a:solidFill>
                        <a:srgbClr val="232F52"/>
                      </a:solidFill>
                      <a:prstDash val="solid"/>
                    </a:lnL>
                    <a:lnR w="7620" cap="flat" cmpd="sng" algn="ctr">
                      <a:solidFill>
                        <a:srgbClr val="232F52"/>
                      </a:solidFill>
                      <a:prstDash val="solid"/>
                    </a:lnR>
                    <a:lnT w="7620" cap="flat" cmpd="sng" algn="ctr">
                      <a:solidFill>
                        <a:srgbClr val="232F52"/>
                      </a:solidFill>
                      <a:prstDash val="solid"/>
                    </a:lnT>
                    <a:lnB w="7620" cap="flat" cmpd="sng" algn="ctr">
                      <a:solidFill>
                        <a:srgbClr val="232F52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300" b="0" i="0">
                          <a:solidFill>
                            <a:srgbClr val="A9AFC0"/>
                          </a:solidFill>
                          <a:latin typeface="Calibri"/>
                        </a:rPr>
                        <a:t>Delivery under someone else’s name</a:t>
                      </a:r>
                    </a:p>
                  </a:txBody>
                  <a:tcPr marL="91440" marR="91440" marT="54864" marB="54864">
                    <a:solidFill>
                      <a:srgbClr val="0B142A"/>
                    </a:solidFill>
                    <a:lnL w="7620" cap="flat" cmpd="sng" algn="ctr">
                      <a:solidFill>
                        <a:srgbClr val="232F52"/>
                      </a:solidFill>
                      <a:prstDash val="solid"/>
                    </a:lnL>
                    <a:lnR w="7620" cap="flat" cmpd="sng" algn="ctr">
                      <a:solidFill>
                        <a:srgbClr val="232F52"/>
                      </a:solidFill>
                      <a:prstDash val="solid"/>
                    </a:lnR>
                    <a:lnT w="7620" cap="flat" cmpd="sng" algn="ctr">
                      <a:solidFill>
                        <a:srgbClr val="232F52"/>
                      </a:solidFill>
                      <a:prstDash val="solid"/>
                    </a:lnT>
                    <a:lnB w="7620" cap="flat" cmpd="sng" algn="ctr">
                      <a:solidFill>
                        <a:srgbClr val="232F52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 i="0">
                          <a:solidFill>
                            <a:srgbClr val="FD9E01"/>
                          </a:solidFill>
                          <a:latin typeface="Consolas"/>
                        </a:rPr>
                        <a:t>PM  </a:t>
                      </a:r>
                      <a:r>
                        <a:rPr sz="1300" b="0" i="0">
                          <a:solidFill>
                            <a:srgbClr val="F7F7F8"/>
                          </a:solidFill>
                          <a:latin typeface="Calibri"/>
                        </a:rPr>
                        <a:t>Their brand, domain, or private runtime</a:t>
                      </a:r>
                    </a:p>
                  </a:txBody>
                  <a:tcPr marL="91440" marR="91440" marT="54864" marB="54864">
                    <a:solidFill>
                      <a:srgbClr val="0B142A"/>
                    </a:solidFill>
                    <a:lnL w="7620" cap="flat" cmpd="sng" algn="ctr">
                      <a:solidFill>
                        <a:srgbClr val="232F52"/>
                      </a:solidFill>
                      <a:prstDash val="solid"/>
                    </a:lnL>
                    <a:lnR w="7620" cap="flat" cmpd="sng" algn="ctr">
                      <a:solidFill>
                        <a:srgbClr val="232F52"/>
                      </a:solidFill>
                      <a:prstDash val="solid"/>
                    </a:lnR>
                    <a:lnT w="7620" cap="flat" cmpd="sng" algn="ctr">
                      <a:solidFill>
                        <a:srgbClr val="232F52"/>
                      </a:solidFill>
                      <a:prstDash val="solid"/>
                    </a:lnT>
                    <a:lnB w="7620" cap="flat" cmpd="sng" algn="ctr">
                      <a:solidFill>
                        <a:srgbClr val="232F52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300" b="1" i="0">
                          <a:solidFill>
                            <a:srgbClr val="F7F7F8"/>
                          </a:solidFill>
                          <a:latin typeface="Calibri"/>
                        </a:rPr>
                        <a:t>Own the client</a:t>
                      </a:r>
                    </a:p>
                  </a:txBody>
                  <a:tcPr marL="91440" marR="91440" marT="54864" marB="54864">
                    <a:solidFill>
                      <a:srgbClr val="0B142A"/>
                    </a:solidFill>
                    <a:lnL w="7620" cap="flat" cmpd="sng" algn="ctr">
                      <a:solidFill>
                        <a:srgbClr val="232F52"/>
                      </a:solidFill>
                      <a:prstDash val="solid"/>
                    </a:lnL>
                    <a:lnR w="7620" cap="flat" cmpd="sng" algn="ctr">
                      <a:solidFill>
                        <a:srgbClr val="232F52"/>
                      </a:solidFill>
                      <a:prstDash val="solid"/>
                    </a:lnR>
                    <a:lnT w="7620" cap="flat" cmpd="sng" algn="ctr">
                      <a:solidFill>
                        <a:srgbClr val="232F52"/>
                      </a:solidFill>
                      <a:prstDash val="solid"/>
                    </a:lnT>
                    <a:lnB w="7620" cap="flat" cmpd="sng" algn="ctr">
                      <a:solidFill>
                        <a:srgbClr val="232F52"/>
                      </a:solidFill>
                      <a:prstDash val="solid"/>
                    </a:lnB>
                  </a:tcPr>
                </a:tc>
              </a:tr>
              <a:tr h="795531">
                <a:tc>
                  <a:txBody>
                    <a:bodyPr wrap="square" anchor="ctr"/>
                    <a:lstStyle/>
                    <a:p>
                      <a:pPr algn="l"/>
                      <a:r>
                        <a:rPr sz="1300" b="0" i="0">
                          <a:solidFill>
                            <a:srgbClr val="A9AFC0"/>
                          </a:solidFill>
                          <a:latin typeface="Calibri"/>
                        </a:rPr>
                        <a:t>Sales / RevOps</a:t>
                      </a:r>
                    </a:p>
                  </a:txBody>
                  <a:tcPr marL="91440" marR="91440" marT="54864" marB="54864">
                    <a:solidFill>
                      <a:srgbClr val="0B142A"/>
                    </a:solidFill>
                    <a:lnL w="7620" cap="flat" cmpd="sng" algn="ctr">
                      <a:solidFill>
                        <a:srgbClr val="232F52"/>
                      </a:solidFill>
                      <a:prstDash val="solid"/>
                    </a:lnL>
                    <a:lnR w="7620" cap="flat" cmpd="sng" algn="ctr">
                      <a:solidFill>
                        <a:srgbClr val="232F52"/>
                      </a:solidFill>
                      <a:prstDash val="solid"/>
                    </a:lnR>
                    <a:lnT w="7620" cap="flat" cmpd="sng" algn="ctr">
                      <a:solidFill>
                        <a:srgbClr val="232F52"/>
                      </a:solidFill>
                      <a:prstDash val="solid"/>
                    </a:lnT>
                    <a:lnB w="7620" cap="flat" cmpd="sng" algn="ctr">
                      <a:solidFill>
                        <a:srgbClr val="232F52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300" b="0" i="0">
                          <a:solidFill>
                            <a:srgbClr val="A9AFC0"/>
                          </a:solidFill>
                          <a:latin typeface="Calibri"/>
                        </a:rPr>
                        <a:t>Scores that never become an action</a:t>
                      </a:r>
                    </a:p>
                  </a:txBody>
                  <a:tcPr marL="91440" marR="91440" marT="54864" marB="54864">
                    <a:solidFill>
                      <a:srgbClr val="0B142A"/>
                    </a:solidFill>
                    <a:lnL w="7620" cap="flat" cmpd="sng" algn="ctr">
                      <a:solidFill>
                        <a:srgbClr val="232F52"/>
                      </a:solidFill>
                      <a:prstDash val="solid"/>
                    </a:lnL>
                    <a:lnR w="7620" cap="flat" cmpd="sng" algn="ctr">
                      <a:solidFill>
                        <a:srgbClr val="232F52"/>
                      </a:solidFill>
                      <a:prstDash val="solid"/>
                    </a:lnR>
                    <a:lnT w="7620" cap="flat" cmpd="sng" algn="ctr">
                      <a:solidFill>
                        <a:srgbClr val="232F52"/>
                      </a:solidFill>
                      <a:prstDash val="solid"/>
                    </a:lnT>
                    <a:lnB w="7620" cap="flat" cmpd="sng" algn="ctr">
                      <a:solidFill>
                        <a:srgbClr val="232F52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 i="0">
                          <a:solidFill>
                            <a:srgbClr val="FD9E01"/>
                          </a:solidFill>
                          <a:latin typeface="Consolas"/>
                        </a:rPr>
                        <a:t>SI  </a:t>
                      </a:r>
                      <a:r>
                        <a:rPr sz="1300" b="0" i="0">
                          <a:solidFill>
                            <a:srgbClr val="F7F7F8"/>
                          </a:solidFill>
                          <a:latin typeface="Calibri"/>
                        </a:rPr>
                        <a:t>Who / why / why now — written back</a:t>
                      </a:r>
                    </a:p>
                  </a:txBody>
                  <a:tcPr marL="91440" marR="91440" marT="54864" marB="54864">
                    <a:solidFill>
                      <a:srgbClr val="0B142A"/>
                    </a:solidFill>
                    <a:lnL w="7620" cap="flat" cmpd="sng" algn="ctr">
                      <a:solidFill>
                        <a:srgbClr val="232F52"/>
                      </a:solidFill>
                      <a:prstDash val="solid"/>
                    </a:lnL>
                    <a:lnR w="7620" cap="flat" cmpd="sng" algn="ctr">
                      <a:solidFill>
                        <a:srgbClr val="232F52"/>
                      </a:solidFill>
                      <a:prstDash val="solid"/>
                    </a:lnR>
                    <a:lnT w="7620" cap="flat" cmpd="sng" algn="ctr">
                      <a:solidFill>
                        <a:srgbClr val="232F52"/>
                      </a:solidFill>
                      <a:prstDash val="solid"/>
                    </a:lnT>
                    <a:lnB w="7620" cap="flat" cmpd="sng" algn="ctr">
                      <a:solidFill>
                        <a:srgbClr val="232F52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300" b="1" i="0">
                          <a:solidFill>
                            <a:srgbClr val="F7F7F8"/>
                          </a:solidFill>
                          <a:latin typeface="Calibri"/>
                        </a:rPr>
                        <a:t>Run the CRM they have</a:t>
                      </a:r>
                    </a:p>
                  </a:txBody>
                  <a:tcPr marL="91440" marR="91440" marT="54864" marB="54864">
                    <a:solidFill>
                      <a:srgbClr val="0B142A"/>
                    </a:solidFill>
                    <a:lnL w="7620" cap="flat" cmpd="sng" algn="ctr">
                      <a:solidFill>
                        <a:srgbClr val="232F52"/>
                      </a:solidFill>
                      <a:prstDash val="solid"/>
                    </a:lnL>
                    <a:lnR w="7620" cap="flat" cmpd="sng" algn="ctr">
                      <a:solidFill>
                        <a:srgbClr val="232F52"/>
                      </a:solidFill>
                      <a:prstDash val="solid"/>
                    </a:lnR>
                    <a:lnT w="7620" cap="flat" cmpd="sng" algn="ctr">
                      <a:solidFill>
                        <a:srgbClr val="232F52"/>
                      </a:solidFill>
                      <a:prstDash val="solid"/>
                    </a:lnT>
                    <a:lnB w="7620" cap="flat" cmpd="sng" algn="ctr">
                      <a:solidFill>
                        <a:srgbClr val="232F52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30352" y="5577840"/>
            <a:ext cx="11128248" cy="77724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400" b="0" i="0">
                <a:solidFill>
                  <a:srgbClr val="A9AFC0"/>
                </a:solidFill>
                <a:latin typeface="Calibri"/>
              </a:rPr>
              <a:t>Potential is not “more AI.” It is one process across jobs they already pay for — then a next action they can approve. That is what expands seats, modules, and products on the same account.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6510528"/>
            <a:ext cx="6766560" cy="256032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100" b="0" i="0">
                <a:solidFill>
                  <a:srgbClr val="868A95"/>
                </a:solidFill>
                <a:latin typeface="Calibri"/>
              </a:rPr>
              <a:t>Pravadh Labs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6510528"/>
            <a:ext cx="3977639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 i="0">
                <a:solidFill>
                  <a:srgbClr val="868A95"/>
                </a:solidFill>
                <a:latin typeface="Calibri"/>
              </a:rPr>
              <a:t>Confidential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412480" cy="64008"/>
          </a:xfrm>
          <a:prstGeom prst="rect">
            <a:avLst/>
          </a:prstGeom>
          <a:solidFill>
            <a:srgbClr val="1E5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0" y="0"/>
            <a:ext cx="3779215" cy="64008"/>
          </a:xfrm>
          <a:prstGeom prst="rect">
            <a:avLst/>
          </a:prstGeom>
          <a:solidFill>
            <a:srgbClr val="FD9E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8412480" cy="292608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100" b="0" i="0">
                <a:solidFill>
                  <a:srgbClr val="1E5CEE"/>
                </a:solidFill>
                <a:latin typeface="Consolas"/>
              </a:rPr>
              <a:t>THE RAIL — FOUR PRODUCTS, ONE CONTROL PLANE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256032"/>
            <a:ext cx="14630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0" i="0">
                <a:solidFill>
                  <a:srgbClr val="868A95"/>
                </a:solidFill>
                <a:latin typeface="Consolas"/>
              </a:rPr>
              <a:t>05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566928"/>
            <a:ext cx="11128248" cy="7772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0"/>
              </a:spcAft>
            </a:pPr>
            <a:r>
              <a:rPr sz="2600" b="0" i="0">
                <a:solidFill>
                  <a:srgbClr val="0B142A"/>
                </a:solidFill>
                <a:latin typeface="Georgia"/>
              </a:rPr>
              <a:t>Depth-first products. Shared trail, approvals, and “you still approve.”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554480"/>
            <a:ext cx="11128248" cy="3246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4D4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700784"/>
            <a:ext cx="7315200" cy="256032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100" b="0" i="0">
                <a:solidFill>
                  <a:srgbClr val="868A95"/>
                </a:solidFill>
                <a:latin typeface="Consolas"/>
              </a:rPr>
              <a:t>PRAVADH LABS CONTROL PLANE</a:t>
            </a:r>
          </a:p>
        </p:txBody>
      </p:sp>
      <p:sp>
        <p:nvSpPr>
          <p:cNvPr id="9" name="Rectangle 8"/>
          <p:cNvSpPr/>
          <p:nvPr/>
        </p:nvSpPr>
        <p:spPr>
          <a:xfrm>
            <a:off x="896112" y="2121408"/>
            <a:ext cx="7680960" cy="41148"/>
          </a:xfrm>
          <a:prstGeom prst="rect">
            <a:avLst/>
          </a:prstGeom>
          <a:solidFill>
            <a:srgbClr val="1E5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577072" y="2121408"/>
            <a:ext cx="2651760" cy="41148"/>
          </a:xfrm>
          <a:prstGeom prst="rect">
            <a:avLst/>
          </a:prstGeom>
          <a:solidFill>
            <a:srgbClr val="FD9E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86384" y="2395728"/>
            <a:ext cx="2542032" cy="2084831"/>
          </a:xfrm>
          <a:prstGeom prst="roundRect">
            <a:avLst>
              <a:gd name="adj" fmla="val 8000"/>
            </a:avLst>
          </a:prstGeom>
          <a:solidFill>
            <a:srgbClr val="F7F7F8"/>
          </a:solidFill>
          <a:ln w="12700">
            <a:solidFill>
              <a:srgbClr val="D4D4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2505456"/>
            <a:ext cx="2359152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B142A"/>
                </a:solidFill>
                <a:latin typeface="Calibri"/>
                <a:hlinkClick r:id="rId2"/>
              </a:rPr>
              <a:t>PravadhIQ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A6070"/>
                </a:solidFill>
                <a:latin typeface="Consolas"/>
              </a:rPr>
              <a:t>SHIP · MOVE · GOVERN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68A95"/>
                </a:solidFill>
                <a:latin typeface="Calibri"/>
              </a:rPr>
              <a:t>CRM change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0" y="2395728"/>
            <a:ext cx="2542032" cy="2084831"/>
          </a:xfrm>
          <a:prstGeom prst="roundRect">
            <a:avLst>
              <a:gd name="adj" fmla="val 8000"/>
            </a:avLst>
          </a:prstGeom>
          <a:solidFill>
            <a:srgbClr val="F7F7F8"/>
          </a:solidFill>
          <a:ln w="12700">
            <a:solidFill>
              <a:srgbClr val="D4D4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2505456"/>
            <a:ext cx="2359152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B142A"/>
                </a:solidFill>
                <a:latin typeface="Calibri"/>
                <a:hlinkClick r:id="rId3"/>
              </a:rPr>
              <a:t>GovernX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A6070"/>
                </a:solidFill>
                <a:latin typeface="Consolas"/>
              </a:rPr>
              <a:t>EXTRACT · GOVERN · NOTIFY · EMIE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68A95"/>
                </a:solidFill>
                <a:latin typeface="Calibri"/>
              </a:rPr>
              <a:t>Cross-platform data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63056" y="2395728"/>
            <a:ext cx="2542032" cy="2084831"/>
          </a:xfrm>
          <a:prstGeom prst="roundRect">
            <a:avLst>
              <a:gd name="adj" fmla="val 8000"/>
            </a:avLst>
          </a:prstGeom>
          <a:solidFill>
            <a:srgbClr val="F7F7F8"/>
          </a:solidFill>
          <a:ln w="12700">
            <a:solidFill>
              <a:srgbClr val="D4D4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54496" y="2505456"/>
            <a:ext cx="2359152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B142A"/>
                </a:solidFill>
                <a:latin typeface="Calibri"/>
                <a:hlinkClick r:id="rId4"/>
              </a:rPr>
              <a:t>Pravadh PM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A6070"/>
                </a:solidFill>
                <a:latin typeface="Consolas"/>
              </a:rPr>
              <a:t>ISSUES · VIEWS · BRAND · PRIVATE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68A95"/>
                </a:solidFill>
                <a:latin typeface="Calibri"/>
              </a:rPr>
              <a:t>White-label delivery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51392" y="2395728"/>
            <a:ext cx="2542032" cy="2084831"/>
          </a:xfrm>
          <a:prstGeom prst="roundRect">
            <a:avLst>
              <a:gd name="adj" fmla="val 8000"/>
            </a:avLst>
          </a:prstGeom>
          <a:solidFill>
            <a:srgbClr val="F7F7F8"/>
          </a:solidFill>
          <a:ln w="12700">
            <a:solidFill>
              <a:srgbClr val="D4D4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42832" y="2505456"/>
            <a:ext cx="2359152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B142A"/>
                </a:solidFill>
                <a:latin typeface="Calibri"/>
                <a:hlinkClick r:id="rId5"/>
              </a:rPr>
              <a:t>Pravadh SI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A6070"/>
                </a:solidFill>
                <a:latin typeface="Consolas"/>
              </a:rPr>
              <a:t>CONNECT · QUALIFY · ACT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68A95"/>
                </a:solidFill>
                <a:latin typeface="Calibri"/>
              </a:rPr>
              <a:t>Sales intelligence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0352" y="5029200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F7F7F8"/>
          </a:solidFill>
          <a:ln w="12700">
            <a:solidFill>
              <a:srgbClr val="1E5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 i="0">
                <a:solidFill>
                  <a:srgbClr val="1E5CEE"/>
                </a:solidFill>
                <a:latin typeface="Consolas"/>
              </a:rPr>
              <a:t>15+ SOURCES INTO THE CRM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10128" y="5029200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F7F7F8"/>
          </a:solidFill>
          <a:ln w="12700">
            <a:solidFill>
              <a:srgbClr val="FD9E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 i="0">
                <a:solidFill>
                  <a:srgbClr val="FD9E01"/>
                </a:solidFill>
                <a:latin typeface="Consolas"/>
              </a:rPr>
              <a:t>NOTHING MOVES WITHOUT YOU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9904" y="5029200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F7F7F8"/>
          </a:solidFill>
          <a:ln w="12700">
            <a:solidFill>
              <a:srgbClr val="1E5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 i="0">
                <a:solidFill>
                  <a:srgbClr val="1E5CEE"/>
                </a:solidFill>
                <a:latin typeface="Consolas"/>
              </a:rPr>
              <a:t>STAY ON THE STACK YOU HAVE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69680" y="5029200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F7F7F8"/>
          </a:solidFill>
          <a:ln w="12700">
            <a:solidFill>
              <a:srgbClr val="FD9E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 i="0">
                <a:solidFill>
                  <a:srgbClr val="FD9E01"/>
                </a:solidFill>
                <a:latin typeface="Consolas"/>
              </a:rPr>
              <a:t>AUDIT TRAIL BY DEFAULT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" y="6510528"/>
            <a:ext cx="6766560" cy="256032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100" b="0" i="0">
                <a:solidFill>
                  <a:srgbClr val="868A95"/>
                </a:solidFill>
                <a:latin typeface="Calibri"/>
              </a:rPr>
              <a:t>Pravadh Labs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6510528"/>
            <a:ext cx="3977639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 i="0">
                <a:solidFill>
                  <a:srgbClr val="868A95"/>
                </a:solidFill>
                <a:latin typeface="Calibri"/>
              </a:rPr>
              <a:t>Confidential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412480" cy="64008"/>
          </a:xfrm>
          <a:prstGeom prst="rect">
            <a:avLst/>
          </a:prstGeom>
          <a:solidFill>
            <a:srgbClr val="1E5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0" y="0"/>
            <a:ext cx="3779215" cy="64008"/>
          </a:xfrm>
          <a:prstGeom prst="rect">
            <a:avLst/>
          </a:prstGeom>
          <a:solidFill>
            <a:srgbClr val="FD9E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8412480" cy="292608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100" b="0" i="0">
                <a:solidFill>
                  <a:srgbClr val="FD9E01"/>
                </a:solidFill>
                <a:latin typeface="Consolas"/>
              </a:rPr>
              <a:t>WHY THIS CAN WIN — WE DON’T REPLACE THE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256032"/>
            <a:ext cx="14630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0" i="0">
                <a:solidFill>
                  <a:srgbClr val="868A95"/>
                </a:solidFill>
                <a:latin typeface="Consolas"/>
              </a:rPr>
              <a:t>06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566928"/>
            <a:ext cx="11128248" cy="6400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0"/>
              </a:spcAft>
            </a:pPr>
            <a:r>
              <a:rPr sz="2600" b="0" i="0">
                <a:solidFill>
                  <a:srgbClr val="F7F7F8"/>
                </a:solidFill>
                <a:latin typeface="Georgia"/>
              </a:rPr>
              <a:t>We sit in the mess between systems. That is the wedge.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261872"/>
            <a:ext cx="10424160" cy="6400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0"/>
              </a:spcAft>
            </a:pPr>
            <a:r>
              <a:rPr sz="1500" b="0" i="0">
                <a:solidFill>
                  <a:srgbClr val="A9AFC0"/>
                </a:solidFill>
                <a:latin typeface="Calibri"/>
              </a:rPr>
              <a:t>Enterprises will not rip out CRM, ERP, finance, or delivery tooling for a new suite. They will buy a rail that makes the next action obvious on what they already run.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30352" y="1965960"/>
          <a:ext cx="11128248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37760"/>
                <a:gridCol w="6190488"/>
              </a:tblGrid>
              <a:tr h="594360">
                <a:tc>
                  <a:txBody>
                    <a:bodyPr wrap="square" anchor="ctr"/>
                    <a:lstStyle/>
                    <a:p>
                      <a:pPr algn="l"/>
                      <a:r>
                        <a:rPr sz="1000" b="1" i="0">
                          <a:solidFill>
                            <a:srgbClr val="868A95"/>
                          </a:solidFill>
                          <a:latin typeface="Consolas"/>
                        </a:rPr>
                        <a:t>HOW THE WORK USUALLY SITS</a:t>
                      </a:r>
                    </a:p>
                  </a:txBody>
                  <a:tcPr marL="91440" marR="91440" marT="54864" marB="54864">
                    <a:solidFill>
                      <a:srgbClr val="141F3D"/>
                    </a:solidFill>
                    <a:lnL w="7620" cap="flat" cmpd="sng" algn="ctr">
                      <a:solidFill>
                        <a:srgbClr val="232F52"/>
                      </a:solidFill>
                      <a:prstDash val="solid"/>
                    </a:lnL>
                    <a:lnR w="7620" cap="flat" cmpd="sng" algn="ctr">
                      <a:solidFill>
                        <a:srgbClr val="232F52"/>
                      </a:solidFill>
                      <a:prstDash val="solid"/>
                    </a:lnR>
                    <a:lnT w="7620" cap="flat" cmpd="sng" algn="ctr">
                      <a:solidFill>
                        <a:srgbClr val="232F52"/>
                      </a:solidFill>
                      <a:prstDash val="solid"/>
                    </a:lnT>
                    <a:lnB w="7620" cap="flat" cmpd="sng" algn="ctr">
                      <a:solidFill>
                        <a:srgbClr val="232F52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000" b="1" i="0">
                          <a:solidFill>
                            <a:srgbClr val="868A95"/>
                          </a:solidFill>
                          <a:latin typeface="Consolas"/>
                        </a:rPr>
                        <a:t>HOW IT SITS ON THE RAIL</a:t>
                      </a:r>
                    </a:p>
                  </a:txBody>
                  <a:tcPr marL="91440" marR="91440" marT="54864" marB="54864">
                    <a:solidFill>
                      <a:srgbClr val="141F3D"/>
                    </a:solidFill>
                    <a:lnL w="7620" cap="flat" cmpd="sng" algn="ctr">
                      <a:solidFill>
                        <a:srgbClr val="232F52"/>
                      </a:solidFill>
                      <a:prstDash val="solid"/>
                    </a:lnL>
                    <a:lnR w="7620" cap="flat" cmpd="sng" algn="ctr">
                      <a:solidFill>
                        <a:srgbClr val="232F52"/>
                      </a:solidFill>
                      <a:prstDash val="solid"/>
                    </a:lnR>
                    <a:lnT w="7620" cap="flat" cmpd="sng" algn="ctr">
                      <a:solidFill>
                        <a:srgbClr val="232F52"/>
                      </a:solidFill>
                      <a:prstDash val="solid"/>
                    </a:lnT>
                    <a:lnB w="7620" cap="flat" cmpd="sng" algn="ctr">
                      <a:solidFill>
                        <a:srgbClr val="232F52"/>
                      </a:solidFill>
                      <a:prstDash val="solid"/>
                    </a:lnB>
                  </a:tcPr>
                </a:tc>
              </a:tr>
              <a:tr h="594360">
                <a:tc>
                  <a:txBody>
                    <a:bodyPr wrap="square" anchor="ctr"/>
                    <a:lstStyle/>
                    <a:p>
                      <a:pPr algn="l"/>
                      <a:r>
                        <a:rPr sz="1300" b="0" i="0">
                          <a:solidFill>
                            <a:srgbClr val="A9AFC0"/>
                          </a:solidFill>
                          <a:latin typeface="Calibri"/>
                        </a:rPr>
                        <a:t>Promoting code as its own job</a:t>
                      </a:r>
                    </a:p>
                  </a:txBody>
                  <a:tcPr marL="91440" marR="91440" marT="54864" marB="54864">
                    <a:solidFill>
                      <a:srgbClr val="0B142A"/>
                    </a:solidFill>
                    <a:lnL w="7620" cap="flat" cmpd="sng" algn="ctr">
                      <a:solidFill>
                        <a:srgbClr val="232F52"/>
                      </a:solidFill>
                      <a:prstDash val="solid"/>
                    </a:lnL>
                    <a:lnR w="7620" cap="flat" cmpd="sng" algn="ctr">
                      <a:solidFill>
                        <a:srgbClr val="232F52"/>
                      </a:solidFill>
                      <a:prstDash val="solid"/>
                    </a:lnR>
                    <a:lnT w="7620" cap="flat" cmpd="sng" algn="ctr">
                      <a:solidFill>
                        <a:srgbClr val="232F52"/>
                      </a:solidFill>
                      <a:prstDash val="solid"/>
                    </a:lnT>
                    <a:lnB w="7620" cap="flat" cmpd="sng" algn="ctr">
                      <a:solidFill>
                        <a:srgbClr val="232F52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 i="0">
                          <a:solidFill>
                            <a:srgbClr val="FD9E01"/>
                          </a:solidFill>
                          <a:latin typeface="Consolas"/>
                        </a:rPr>
                        <a:t>SHIP  </a:t>
                      </a:r>
                      <a:r>
                        <a:rPr sz="1300" b="1" i="0">
                          <a:solidFill>
                            <a:srgbClr val="F7F7F8"/>
                          </a:solidFill>
                          <a:latin typeface="Calibri"/>
                        </a:rPr>
                        <a:t>Deploy with validation, dependencies, rollback</a:t>
                      </a:r>
                    </a:p>
                  </a:txBody>
                  <a:tcPr marL="91440" marR="91440" marT="54864" marB="54864">
                    <a:solidFill>
                      <a:srgbClr val="0B142A"/>
                    </a:solidFill>
                    <a:lnL w="7620" cap="flat" cmpd="sng" algn="ctr">
                      <a:solidFill>
                        <a:srgbClr val="232F52"/>
                      </a:solidFill>
                      <a:prstDash val="solid"/>
                    </a:lnL>
                    <a:lnR w="7620" cap="flat" cmpd="sng" algn="ctr">
                      <a:solidFill>
                        <a:srgbClr val="232F52"/>
                      </a:solidFill>
                      <a:prstDash val="solid"/>
                    </a:lnR>
                    <a:lnT w="7620" cap="flat" cmpd="sng" algn="ctr">
                      <a:solidFill>
                        <a:srgbClr val="232F52"/>
                      </a:solidFill>
                      <a:prstDash val="solid"/>
                    </a:lnT>
                    <a:lnB w="7620" cap="flat" cmpd="sng" algn="ctr">
                      <a:solidFill>
                        <a:srgbClr val="232F52"/>
                      </a:solidFill>
                      <a:prstDash val="solid"/>
                    </a:lnB>
                  </a:tcPr>
                </a:tc>
              </a:tr>
              <a:tr h="594360">
                <a:tc>
                  <a:txBody>
                    <a:bodyPr wrap="square" anchor="ctr"/>
                    <a:lstStyle/>
                    <a:p>
                      <a:pPr algn="l"/>
                      <a:r>
                        <a:rPr sz="1300" b="0" i="0">
                          <a:solidFill>
                            <a:srgbClr val="A9AFC0"/>
                          </a:solidFill>
                          <a:latin typeface="Calibri"/>
                        </a:rPr>
                        <a:t>Moving records as a second job</a:t>
                      </a:r>
                    </a:p>
                  </a:txBody>
                  <a:tcPr marL="91440" marR="91440" marT="54864" marB="54864">
                    <a:solidFill>
                      <a:srgbClr val="0B142A"/>
                    </a:solidFill>
                    <a:lnL w="7620" cap="flat" cmpd="sng" algn="ctr">
                      <a:solidFill>
                        <a:srgbClr val="232F52"/>
                      </a:solidFill>
                      <a:prstDash val="solid"/>
                    </a:lnL>
                    <a:lnR w="7620" cap="flat" cmpd="sng" algn="ctr">
                      <a:solidFill>
                        <a:srgbClr val="232F52"/>
                      </a:solidFill>
                      <a:prstDash val="solid"/>
                    </a:lnR>
                    <a:lnT w="7620" cap="flat" cmpd="sng" algn="ctr">
                      <a:solidFill>
                        <a:srgbClr val="232F52"/>
                      </a:solidFill>
                      <a:prstDash val="solid"/>
                    </a:lnT>
                    <a:lnB w="7620" cap="flat" cmpd="sng" algn="ctr">
                      <a:solidFill>
                        <a:srgbClr val="232F52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 i="0">
                          <a:solidFill>
                            <a:srgbClr val="FD9E01"/>
                          </a:solidFill>
                          <a:latin typeface="Consolas"/>
                        </a:rPr>
                        <a:t>MOVE  </a:t>
                      </a:r>
                      <a:r>
                        <a:rPr sz="1300" b="1" i="0">
                          <a:solidFill>
                            <a:srgbClr val="F7F7F8"/>
                          </a:solidFill>
                          <a:latin typeface="Calibri"/>
                        </a:rPr>
                        <a:t>Map and transform before load</a:t>
                      </a:r>
                    </a:p>
                  </a:txBody>
                  <a:tcPr marL="91440" marR="91440" marT="54864" marB="54864">
                    <a:solidFill>
                      <a:srgbClr val="0B142A"/>
                    </a:solidFill>
                    <a:lnL w="7620" cap="flat" cmpd="sng" algn="ctr">
                      <a:solidFill>
                        <a:srgbClr val="232F52"/>
                      </a:solidFill>
                      <a:prstDash val="solid"/>
                    </a:lnL>
                    <a:lnR w="7620" cap="flat" cmpd="sng" algn="ctr">
                      <a:solidFill>
                        <a:srgbClr val="232F52"/>
                      </a:solidFill>
                      <a:prstDash val="solid"/>
                    </a:lnR>
                    <a:lnT w="7620" cap="flat" cmpd="sng" algn="ctr">
                      <a:solidFill>
                        <a:srgbClr val="232F52"/>
                      </a:solidFill>
                      <a:prstDash val="solid"/>
                    </a:lnT>
                    <a:lnB w="7620" cap="flat" cmpd="sng" algn="ctr">
                      <a:solidFill>
                        <a:srgbClr val="232F52"/>
                      </a:solidFill>
                      <a:prstDash val="solid"/>
                    </a:lnB>
                  </a:tcPr>
                </a:tc>
              </a:tr>
              <a:tr h="594360">
                <a:tc>
                  <a:txBody>
                    <a:bodyPr wrap="square" anchor="ctr"/>
                    <a:lstStyle/>
                    <a:p>
                      <a:pPr algn="l"/>
                      <a:r>
                        <a:rPr sz="1300" b="0" i="0">
                          <a:solidFill>
                            <a:srgbClr val="A9AFC0"/>
                          </a:solidFill>
                          <a:latin typeface="Calibri"/>
                        </a:rPr>
                        <a:t>The trail in a sheet</a:t>
                      </a:r>
                    </a:p>
                  </a:txBody>
                  <a:tcPr marL="91440" marR="91440" marT="54864" marB="54864">
                    <a:solidFill>
                      <a:srgbClr val="0B142A"/>
                    </a:solidFill>
                    <a:lnL w="7620" cap="flat" cmpd="sng" algn="ctr">
                      <a:solidFill>
                        <a:srgbClr val="232F52"/>
                      </a:solidFill>
                      <a:prstDash val="solid"/>
                    </a:lnL>
                    <a:lnR w="7620" cap="flat" cmpd="sng" algn="ctr">
                      <a:solidFill>
                        <a:srgbClr val="232F52"/>
                      </a:solidFill>
                      <a:prstDash val="solid"/>
                    </a:lnR>
                    <a:lnT w="7620" cap="flat" cmpd="sng" algn="ctr">
                      <a:solidFill>
                        <a:srgbClr val="232F52"/>
                      </a:solidFill>
                      <a:prstDash val="solid"/>
                    </a:lnT>
                    <a:lnB w="7620" cap="flat" cmpd="sng" algn="ctr">
                      <a:solidFill>
                        <a:srgbClr val="232F52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 i="0">
                          <a:solidFill>
                            <a:srgbClr val="FD9E01"/>
                          </a:solidFill>
                          <a:latin typeface="Consolas"/>
                        </a:rPr>
                        <a:t>GOVERN  </a:t>
                      </a:r>
                      <a:r>
                        <a:rPr sz="1300" b="1" i="0">
                          <a:solidFill>
                            <a:srgbClr val="F7F7F8"/>
                          </a:solidFill>
                          <a:latin typeface="Calibri"/>
                        </a:rPr>
                        <a:t>One trail for every change and approval</a:t>
                      </a:r>
                    </a:p>
                  </a:txBody>
                  <a:tcPr marL="91440" marR="91440" marT="54864" marB="54864">
                    <a:solidFill>
                      <a:srgbClr val="0B142A"/>
                    </a:solidFill>
                    <a:lnL w="7620" cap="flat" cmpd="sng" algn="ctr">
                      <a:solidFill>
                        <a:srgbClr val="232F52"/>
                      </a:solidFill>
                      <a:prstDash val="solid"/>
                    </a:lnL>
                    <a:lnR w="7620" cap="flat" cmpd="sng" algn="ctr">
                      <a:solidFill>
                        <a:srgbClr val="232F52"/>
                      </a:solidFill>
                      <a:prstDash val="solid"/>
                    </a:lnR>
                    <a:lnT w="7620" cap="flat" cmpd="sng" algn="ctr">
                      <a:solidFill>
                        <a:srgbClr val="232F52"/>
                      </a:solidFill>
                      <a:prstDash val="solid"/>
                    </a:lnT>
                    <a:lnB w="7620" cap="flat" cmpd="sng" algn="ctr">
                      <a:solidFill>
                        <a:srgbClr val="232F52"/>
                      </a:solidFill>
                      <a:prstDash val="solid"/>
                    </a:lnB>
                  </a:tcPr>
                </a:tc>
              </a:tr>
              <a:tr h="594360">
                <a:tc>
                  <a:txBody>
                    <a:bodyPr wrap="square" anchor="ctr"/>
                    <a:lstStyle/>
                    <a:p>
                      <a:pPr algn="l"/>
                      <a:r>
                        <a:rPr sz="1300" b="0" i="0">
                          <a:solidFill>
                            <a:srgbClr val="A9AFC0"/>
                          </a:solidFill>
                          <a:latin typeface="Calibri"/>
                        </a:rPr>
                        <a:t>One-off extracts across CRM and ERP</a:t>
                      </a:r>
                    </a:p>
                  </a:txBody>
                  <a:tcPr marL="91440" marR="91440" marT="54864" marB="54864">
                    <a:solidFill>
                      <a:srgbClr val="0B142A"/>
                    </a:solidFill>
                    <a:lnL w="7620" cap="flat" cmpd="sng" algn="ctr">
                      <a:solidFill>
                        <a:srgbClr val="232F52"/>
                      </a:solidFill>
                      <a:prstDash val="solid"/>
                    </a:lnL>
                    <a:lnR w="7620" cap="flat" cmpd="sng" algn="ctr">
                      <a:solidFill>
                        <a:srgbClr val="232F52"/>
                      </a:solidFill>
                      <a:prstDash val="solid"/>
                    </a:lnR>
                    <a:lnT w="7620" cap="flat" cmpd="sng" algn="ctr">
                      <a:solidFill>
                        <a:srgbClr val="232F52"/>
                      </a:solidFill>
                      <a:prstDash val="solid"/>
                    </a:lnT>
                    <a:lnB w="7620" cap="flat" cmpd="sng" algn="ctr">
                      <a:solidFill>
                        <a:srgbClr val="232F52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 i="0">
                          <a:solidFill>
                            <a:srgbClr val="FD9E01"/>
                          </a:solidFill>
                          <a:latin typeface="Consolas"/>
                        </a:rPr>
                        <a:t>EXTRACT  </a:t>
                      </a:r>
                      <a:r>
                        <a:rPr sz="1300" b="1" i="0">
                          <a:solidFill>
                            <a:srgbClr val="F7F7F8"/>
                          </a:solidFill>
                          <a:latin typeface="Calibri"/>
                        </a:rPr>
                        <a:t>One governed pipeline on the canvas</a:t>
                      </a:r>
                    </a:p>
                  </a:txBody>
                  <a:tcPr marL="91440" marR="91440" marT="54864" marB="54864">
                    <a:solidFill>
                      <a:srgbClr val="0B142A"/>
                    </a:solidFill>
                    <a:lnL w="7620" cap="flat" cmpd="sng" algn="ctr">
                      <a:solidFill>
                        <a:srgbClr val="232F52"/>
                      </a:solidFill>
                      <a:prstDash val="solid"/>
                    </a:lnL>
                    <a:lnR w="7620" cap="flat" cmpd="sng" algn="ctr">
                      <a:solidFill>
                        <a:srgbClr val="232F52"/>
                      </a:solidFill>
                      <a:prstDash val="solid"/>
                    </a:lnR>
                    <a:lnT w="7620" cap="flat" cmpd="sng" algn="ctr">
                      <a:solidFill>
                        <a:srgbClr val="232F52"/>
                      </a:solidFill>
                      <a:prstDash val="solid"/>
                    </a:lnT>
                    <a:lnB w="7620" cap="flat" cmpd="sng" algn="ctr">
                      <a:solidFill>
                        <a:srgbClr val="232F52"/>
                      </a:solidFill>
                      <a:prstDash val="solid"/>
                    </a:lnB>
                  </a:tcPr>
                </a:tc>
              </a:tr>
              <a:tr h="594360">
                <a:tc>
                  <a:txBody>
                    <a:bodyPr wrap="square" anchor="ctr"/>
                    <a:lstStyle/>
                    <a:p>
                      <a:pPr algn="l"/>
                      <a:r>
                        <a:rPr sz="1300" b="0" i="0">
                          <a:solidFill>
                            <a:srgbClr val="A9AFC0"/>
                          </a:solidFill>
                          <a:latin typeface="Calibri"/>
                        </a:rPr>
                        <a:t>The next move in someone’s memory</a:t>
                      </a:r>
                    </a:p>
                  </a:txBody>
                  <a:tcPr marL="91440" marR="91440" marT="54864" marB="54864">
                    <a:solidFill>
                      <a:srgbClr val="0B142A"/>
                    </a:solidFill>
                    <a:lnL w="7620" cap="flat" cmpd="sng" algn="ctr">
                      <a:solidFill>
                        <a:srgbClr val="232F52"/>
                      </a:solidFill>
                      <a:prstDash val="solid"/>
                    </a:lnL>
                    <a:lnR w="7620" cap="flat" cmpd="sng" algn="ctr">
                      <a:solidFill>
                        <a:srgbClr val="232F52"/>
                      </a:solidFill>
                      <a:prstDash val="solid"/>
                    </a:lnR>
                    <a:lnT w="7620" cap="flat" cmpd="sng" algn="ctr">
                      <a:solidFill>
                        <a:srgbClr val="232F52"/>
                      </a:solidFill>
                      <a:prstDash val="solid"/>
                    </a:lnT>
                    <a:lnB w="7620" cap="flat" cmpd="sng" algn="ctr">
                      <a:solidFill>
                        <a:srgbClr val="232F52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 i="0">
                          <a:solidFill>
                            <a:srgbClr val="FD9E01"/>
                          </a:solidFill>
                          <a:latin typeface="Consolas"/>
                        </a:rPr>
                        <a:t>EMIE / SI  </a:t>
                      </a:r>
                      <a:r>
                        <a:rPr sz="1300" b="1" i="0">
                          <a:solidFill>
                            <a:srgbClr val="F7F7F8"/>
                          </a:solidFill>
                          <a:latin typeface="Calibri"/>
                        </a:rPr>
                        <a:t>Next action queued. You approve.</a:t>
                      </a:r>
                    </a:p>
                  </a:txBody>
                  <a:tcPr marL="91440" marR="91440" marT="54864" marB="54864">
                    <a:solidFill>
                      <a:srgbClr val="0B142A"/>
                    </a:solidFill>
                    <a:lnL w="7620" cap="flat" cmpd="sng" algn="ctr">
                      <a:solidFill>
                        <a:srgbClr val="232F52"/>
                      </a:solidFill>
                      <a:prstDash val="solid"/>
                    </a:lnL>
                    <a:lnR w="7620" cap="flat" cmpd="sng" algn="ctr">
                      <a:solidFill>
                        <a:srgbClr val="232F52"/>
                      </a:solidFill>
                      <a:prstDash val="solid"/>
                    </a:lnR>
                    <a:lnT w="7620" cap="flat" cmpd="sng" algn="ctr">
                      <a:solidFill>
                        <a:srgbClr val="232F52"/>
                      </a:solidFill>
                      <a:prstDash val="solid"/>
                    </a:lnT>
                    <a:lnB w="7620" cap="flat" cmpd="sng" algn="ctr">
                      <a:solidFill>
                        <a:srgbClr val="232F52"/>
                      </a:solidFill>
                      <a:prstDash val="solid"/>
                    </a:lnB>
                  </a:tcPr>
                </a:tc>
              </a:tr>
              <a:tr h="594360">
                <a:tc>
                  <a:txBody>
                    <a:bodyPr wrap="square" anchor="ctr"/>
                    <a:lstStyle/>
                    <a:p>
                      <a:pPr algn="l"/>
                      <a:r>
                        <a:rPr sz="1300" b="0" i="0">
                          <a:solidFill>
                            <a:srgbClr val="A9AFC0"/>
                          </a:solidFill>
                          <a:latin typeface="Calibri"/>
                        </a:rPr>
                        <a:t>Delivery under someone else’s name</a:t>
                      </a:r>
                    </a:p>
                  </a:txBody>
                  <a:tcPr marL="91440" marR="91440" marT="54864" marB="54864">
                    <a:solidFill>
                      <a:srgbClr val="0B142A"/>
                    </a:solidFill>
                    <a:lnL w="7620" cap="flat" cmpd="sng" algn="ctr">
                      <a:solidFill>
                        <a:srgbClr val="232F52"/>
                      </a:solidFill>
                      <a:prstDash val="solid"/>
                    </a:lnL>
                    <a:lnR w="7620" cap="flat" cmpd="sng" algn="ctr">
                      <a:solidFill>
                        <a:srgbClr val="232F52"/>
                      </a:solidFill>
                      <a:prstDash val="solid"/>
                    </a:lnR>
                    <a:lnT w="7620" cap="flat" cmpd="sng" algn="ctr">
                      <a:solidFill>
                        <a:srgbClr val="232F52"/>
                      </a:solidFill>
                      <a:prstDash val="solid"/>
                    </a:lnT>
                    <a:lnB w="7620" cap="flat" cmpd="sng" algn="ctr">
                      <a:solidFill>
                        <a:srgbClr val="232F52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 i="0">
                          <a:solidFill>
                            <a:srgbClr val="FD9E01"/>
                          </a:solidFill>
                          <a:latin typeface="Consolas"/>
                        </a:rPr>
                        <a:t>PM  </a:t>
                      </a:r>
                      <a:r>
                        <a:rPr sz="1300" b="1" i="0">
                          <a:solidFill>
                            <a:srgbClr val="F7F7F8"/>
                          </a:solidFill>
                          <a:latin typeface="Calibri"/>
                        </a:rPr>
                        <a:t>Your brand, your domain, or your servers</a:t>
                      </a:r>
                    </a:p>
                  </a:txBody>
                  <a:tcPr marL="91440" marR="91440" marT="54864" marB="54864">
                    <a:solidFill>
                      <a:srgbClr val="0B142A"/>
                    </a:solidFill>
                    <a:lnL w="7620" cap="flat" cmpd="sng" algn="ctr">
                      <a:solidFill>
                        <a:srgbClr val="232F52"/>
                      </a:solidFill>
                      <a:prstDash val="solid"/>
                    </a:lnL>
                    <a:lnR w="7620" cap="flat" cmpd="sng" algn="ctr">
                      <a:solidFill>
                        <a:srgbClr val="232F52"/>
                      </a:solidFill>
                      <a:prstDash val="solid"/>
                    </a:lnR>
                    <a:lnT w="7620" cap="flat" cmpd="sng" algn="ctr">
                      <a:solidFill>
                        <a:srgbClr val="232F52"/>
                      </a:solidFill>
                      <a:prstDash val="solid"/>
                    </a:lnT>
                    <a:lnB w="7620" cap="flat" cmpd="sng" algn="ctr">
                      <a:solidFill>
                        <a:srgbClr val="232F52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30352" y="6510528"/>
            <a:ext cx="6766560" cy="256032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100" b="0" i="0">
                <a:solidFill>
                  <a:srgbClr val="868A95"/>
                </a:solidFill>
                <a:latin typeface="Calibri"/>
              </a:rPr>
              <a:t>Pravadh Labs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6510528"/>
            <a:ext cx="3977639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 i="0">
                <a:solidFill>
                  <a:srgbClr val="868A95"/>
                </a:solidFill>
                <a:latin typeface="Calibri"/>
              </a:rPr>
              <a:t>Confidential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412480" cy="64008"/>
          </a:xfrm>
          <a:prstGeom prst="rect">
            <a:avLst/>
          </a:prstGeom>
          <a:solidFill>
            <a:srgbClr val="1E5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0" y="0"/>
            <a:ext cx="3779215" cy="64008"/>
          </a:xfrm>
          <a:prstGeom prst="rect">
            <a:avLst/>
          </a:prstGeom>
          <a:solidFill>
            <a:srgbClr val="FD9E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8412480" cy="292608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100" b="0" i="0">
                <a:solidFill>
                  <a:srgbClr val="1E5CEE"/>
                </a:solidFill>
                <a:latin typeface="Consolas"/>
              </a:rPr>
              <a:t>LAND ON ONE JOB → EXPAND ON THE RAIL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256032"/>
            <a:ext cx="14630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0" i="0">
                <a:solidFill>
                  <a:srgbClr val="868A95"/>
                </a:solidFill>
                <a:latin typeface="Consolas"/>
              </a:rPr>
              <a:t>07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40080"/>
            <a:ext cx="5806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2600" b="0" i="0">
                <a:solidFill>
                  <a:srgbClr val="0B142A"/>
                </a:solidFill>
                <a:latin typeface="Georgia"/>
              </a:rPr>
              <a:t>Same account. Next product when the next job shows up.</a:t>
            </a:r>
          </a:p>
          <a:p>
            <a:pPr>
              <a:spcAft>
                <a:spcPts val="1200"/>
              </a:spcAft>
            </a:pPr>
            <a:r>
              <a:rPr sz="1500" b="0" i="0">
                <a:solidFill>
                  <a:srgbClr val="1E5CEE"/>
                </a:solidFill>
                <a:latin typeface="Calibri"/>
              </a:rPr>
              <a:t>—  </a:t>
            </a:r>
            <a:r>
              <a:rPr sz="1500" b="1" i="0">
                <a:solidFill>
                  <a:srgbClr val="0B142A"/>
                </a:solidFill>
                <a:latin typeface="Calibri"/>
              </a:rPr>
              <a:t>Land IQ</a:t>
            </a:r>
            <a:r>
              <a:rPr sz="1500" b="0" i="0">
                <a:solidFill>
                  <a:srgbClr val="5A6070"/>
                </a:solidFill>
                <a:latin typeface="Calibri"/>
              </a:rPr>
              <a:t> when ship / move / govern is still three jobs</a:t>
            </a:r>
          </a:p>
          <a:p>
            <a:pPr>
              <a:spcAft>
                <a:spcPts val="1200"/>
              </a:spcAft>
            </a:pPr>
            <a:r>
              <a:rPr sz="1500" b="0" i="0">
                <a:solidFill>
                  <a:srgbClr val="1E5CEE"/>
                </a:solidFill>
                <a:latin typeface="Calibri"/>
              </a:rPr>
              <a:t>—  </a:t>
            </a:r>
            <a:r>
              <a:rPr sz="1500" b="1" i="0">
                <a:solidFill>
                  <a:srgbClr val="0B142A"/>
                </a:solidFill>
                <a:latin typeface="Calibri"/>
              </a:rPr>
              <a:t>Attach GovernX</a:t>
            </a:r>
            <a:r>
              <a:rPr sz="1500" b="0" i="0">
                <a:solidFill>
                  <a:srgbClr val="5A6070"/>
                </a:solidFill>
                <a:latin typeface="Calibri"/>
              </a:rPr>
              <a:t> when ERP and finance drift into the CRM</a:t>
            </a:r>
          </a:p>
          <a:p>
            <a:pPr>
              <a:spcAft>
                <a:spcPts val="1200"/>
              </a:spcAft>
            </a:pPr>
            <a:r>
              <a:rPr sz="1500" b="0" i="0">
                <a:solidFill>
                  <a:srgbClr val="1E5CEE"/>
                </a:solidFill>
                <a:latin typeface="Calibri"/>
              </a:rPr>
              <a:t>—  </a:t>
            </a:r>
            <a:r>
              <a:rPr sz="1500" b="1" i="0">
                <a:solidFill>
                  <a:srgbClr val="0B142A"/>
                </a:solidFill>
                <a:latin typeface="Calibri"/>
              </a:rPr>
              <a:t>Attach PM</a:t>
            </a:r>
            <a:r>
              <a:rPr sz="1500" b="0" i="0">
                <a:solidFill>
                  <a:srgbClr val="5A6070"/>
                </a:solidFill>
                <a:latin typeface="Calibri"/>
              </a:rPr>
              <a:t> when the SI needs client-facing delivery under their name</a:t>
            </a:r>
          </a:p>
          <a:p>
            <a:pPr>
              <a:spcAft>
                <a:spcPts val="1200"/>
              </a:spcAft>
            </a:pPr>
            <a:r>
              <a:rPr sz="1500" b="0" i="0">
                <a:solidFill>
                  <a:srgbClr val="1E5CEE"/>
                </a:solidFill>
                <a:latin typeface="Calibri"/>
              </a:rPr>
              <a:t>—  </a:t>
            </a:r>
            <a:r>
              <a:rPr sz="1500" b="1" i="0">
                <a:solidFill>
                  <a:srgbClr val="0B142A"/>
                </a:solidFill>
                <a:latin typeface="Calibri"/>
              </a:rPr>
              <a:t>Attach SI</a:t>
            </a:r>
            <a:r>
              <a:rPr sz="1500" b="0" i="0">
                <a:solidFill>
                  <a:srgbClr val="5A6070"/>
                </a:solidFill>
                <a:latin typeface="Calibri"/>
              </a:rPr>
              <a:t> when RevOps needs the next revenue action written back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417320"/>
            <a:ext cx="507492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4D4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623680" y="1417320"/>
            <a:ext cx="4994920" cy="41148"/>
          </a:xfrm>
          <a:prstGeom prst="rect">
            <a:avLst/>
          </a:prstGeom>
          <a:solidFill>
            <a:srgbClr val="1E5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29984" y="1527048"/>
            <a:ext cx="4782312" cy="18105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0B142A"/>
                </a:solidFill>
                <a:latin typeface="Calibri"/>
              </a:rPr>
              <a:t>Why expansion is natural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5A6070"/>
                </a:solidFill>
                <a:latin typeface="Calibri"/>
              </a:rPr>
              <a:t>Same buyer, same org, same audit model. We are not cross-selling a second unrelated product. We are completing the process they already started.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3566160"/>
            <a:ext cx="507492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4D4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623680" y="3566160"/>
            <a:ext cx="4994920" cy="41148"/>
          </a:xfrm>
          <a:prstGeom prst="rect">
            <a:avLst/>
          </a:prstGeom>
          <a:solidFill>
            <a:srgbClr val="FD9E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9984" y="3675888"/>
            <a:ext cx="4782312" cy="19476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0B142A"/>
                </a:solidFill>
                <a:latin typeface="Calibri"/>
              </a:rPr>
              <a:t>Why partners fit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5A6070"/>
                </a:solidFill>
                <a:latin typeface="Calibri"/>
              </a:rPr>
              <a:t>SIs already sit in front of this buyer. They introduce. We deliver. They earn 20% of collected revenue while that customer pays — 5% one level down.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6510528"/>
            <a:ext cx="6766560" cy="256032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100" b="0" i="0">
                <a:solidFill>
                  <a:srgbClr val="868A95"/>
                </a:solidFill>
                <a:latin typeface="Calibri"/>
              </a:rPr>
              <a:t>Pravadh Labs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6510528"/>
            <a:ext cx="3977639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 i="0">
                <a:solidFill>
                  <a:srgbClr val="868A95"/>
                </a:solidFill>
                <a:latin typeface="Calibri"/>
              </a:rPr>
              <a:t>Confidential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412480" cy="64008"/>
          </a:xfrm>
          <a:prstGeom prst="rect">
            <a:avLst/>
          </a:prstGeom>
          <a:solidFill>
            <a:srgbClr val="1E5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0" y="0"/>
            <a:ext cx="3779215" cy="64008"/>
          </a:xfrm>
          <a:prstGeom prst="rect">
            <a:avLst/>
          </a:prstGeom>
          <a:solidFill>
            <a:srgbClr val="FD9E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8412480" cy="292608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100" b="0" i="0">
                <a:solidFill>
                  <a:srgbClr val="FD9E01"/>
                </a:solidFill>
                <a:latin typeface="Consolas"/>
              </a:rPr>
              <a:t>PROOF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256032"/>
            <a:ext cx="14630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0" i="0">
                <a:solidFill>
                  <a:srgbClr val="868A95"/>
                </a:solidFill>
                <a:latin typeface="Consolas"/>
              </a:rPr>
              <a:t>08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40080"/>
            <a:ext cx="58978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2600" b="0" i="0">
                <a:solidFill>
                  <a:srgbClr val="F7F7F8"/>
                </a:solidFill>
                <a:latin typeface="Georgia"/>
              </a:rPr>
              <a:t>The studio is live. Commercial scale is the round.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FD9E01"/>
                </a:solidFill>
                <a:latin typeface="Calibri"/>
              </a:rPr>
              <a:t>—  </a:t>
            </a:r>
            <a:r>
              <a:rPr sz="1500" b="0" i="0">
                <a:solidFill>
                  <a:srgbClr val="A9AFC0"/>
                </a:solidFill>
                <a:latin typeface="Calibri"/>
              </a:rPr>
              <a:t>Four products in production — IQ, GovernX, PM, SI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FD9E01"/>
                </a:solidFill>
                <a:latin typeface="Calibri"/>
              </a:rPr>
              <a:t>—  </a:t>
            </a:r>
            <a:r>
              <a:rPr sz="1500" b="0" i="0">
                <a:solidFill>
                  <a:srgbClr val="A9AFC0"/>
                </a:solidFill>
                <a:latin typeface="Calibri"/>
              </a:rPr>
              <a:t>Salesforce ISV Partner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FD9E01"/>
                </a:solidFill>
                <a:latin typeface="Calibri"/>
              </a:rPr>
              <a:t>—  </a:t>
            </a:r>
            <a:r>
              <a:rPr sz="1500" b="0" i="0">
                <a:solidFill>
                  <a:srgbClr val="A9AFC0"/>
                </a:solidFill>
                <a:latin typeface="Calibri"/>
              </a:rPr>
              <a:t>15+ data sources connecting into the CRM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FD9E01"/>
                </a:solidFill>
                <a:latin typeface="Calibri"/>
              </a:rPr>
              <a:t>—  </a:t>
            </a:r>
            <a:r>
              <a:rPr sz="1500" b="0" i="0">
                <a:solidFill>
                  <a:srgbClr val="A9AFC0"/>
                </a:solidFill>
                <a:latin typeface="Calibri"/>
              </a:rPr>
              <a:t>Reseller program live — paid on collected cash, not bookings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FD9E01"/>
                </a:solidFill>
                <a:latin typeface="Calibri"/>
              </a:rPr>
              <a:t>—  </a:t>
            </a:r>
            <a:r>
              <a:rPr sz="1500" b="0" i="0">
                <a:solidFill>
                  <a:srgbClr val="A9AFC0"/>
                </a:solidFill>
                <a:latin typeface="Calibri"/>
              </a:rPr>
              <a:t>Dreamforce 2026 and West Africa Dreamin 2026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FD9E01"/>
                </a:solidFill>
                <a:latin typeface="Calibri"/>
              </a:rPr>
              <a:t>—  </a:t>
            </a:r>
            <a:r>
              <a:rPr sz="1500" b="0" i="0">
                <a:solidFill>
                  <a:srgbClr val="A9AFC0"/>
                </a:solidFill>
                <a:latin typeface="Calibri"/>
              </a:rPr>
              <a:t>SOC 2 Type II and ISO 27001 in progress</a:t>
            </a:r>
          </a:p>
          <a:p>
            <a:pPr>
              <a:spcBef>
                <a:spcPts val="1000"/>
              </a:spcBef>
            </a:pPr>
            <a:r>
              <a:rPr sz="1300" b="0" i="0">
                <a:solidFill>
                  <a:srgbClr val="868A95"/>
                </a:solidFill>
                <a:latin typeface="Calibri"/>
              </a:rPr>
              <a:t>Revenue, pipeline, and ACV are shared in conversation and data room — not estimated on this slide.</a:t>
            </a:r>
          </a:p>
        </p:txBody>
      </p:sp>
      <p:pic>
        <p:nvPicPr>
          <p:cNvPr id="7" name="Picture 6" descr="salesforce-isv-part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713232"/>
            <a:ext cx="1078992" cy="107899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583680" y="1938528"/>
            <a:ext cx="5074920" cy="1874519"/>
          </a:xfrm>
          <a:prstGeom prst="roundRect">
            <a:avLst>
              <a:gd name="adj" fmla="val 6000"/>
            </a:avLst>
          </a:prstGeom>
          <a:solidFill>
            <a:srgbClr val="141F3D"/>
          </a:solidFill>
          <a:ln w="12700">
            <a:solidFill>
              <a:srgbClr val="232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23680" y="1938528"/>
            <a:ext cx="4994920" cy="41148"/>
          </a:xfrm>
          <a:prstGeom prst="rect">
            <a:avLst/>
          </a:prstGeom>
          <a:solidFill>
            <a:srgbClr val="1E5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29984" y="2048256"/>
            <a:ext cx="4782312" cy="167335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1E5CEE"/>
                </a:solidFill>
                <a:latin typeface="Consolas"/>
              </a:rPr>
              <a:t>WHAT THIS PROVES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7F7F8"/>
                </a:solidFill>
                <a:latin typeface="Calibri"/>
              </a:rPr>
              <a:t>The problem is productised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A9AFC0"/>
                </a:solidFill>
                <a:latin typeface="Calibri"/>
              </a:rPr>
              <a:t>Not a pitch for software we will build. Four complete jobs on one control plane, sold into the CRM org we already know how to reach.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3950208"/>
            <a:ext cx="5074920" cy="1874519"/>
          </a:xfrm>
          <a:prstGeom prst="roundRect">
            <a:avLst>
              <a:gd name="adj" fmla="val 6000"/>
            </a:avLst>
          </a:prstGeom>
          <a:solidFill>
            <a:srgbClr val="141F3D"/>
          </a:solidFill>
          <a:ln w="12700">
            <a:solidFill>
              <a:srgbClr val="232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23680" y="3950208"/>
            <a:ext cx="4994920" cy="41148"/>
          </a:xfrm>
          <a:prstGeom prst="rect">
            <a:avLst/>
          </a:prstGeom>
          <a:solidFill>
            <a:srgbClr val="FD9E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29984" y="4059936"/>
            <a:ext cx="4782312" cy="167335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1E5CEE"/>
                </a:solidFill>
                <a:latin typeface="Consolas"/>
              </a:rPr>
              <a:t>WHAT THE RAISE IS FOR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7F7F8"/>
                </a:solidFill>
                <a:latin typeface="Calibri"/>
              </a:rPr>
              <a:t>Distribution, not invention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A9AFC0"/>
                </a:solidFill>
                <a:latin typeface="Calibri"/>
              </a:rPr>
              <a:t>Partners, events, certifications, and the team to run more of the same motion — with a buyer we can name.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6766560" cy="256032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100" b="0" i="0">
                <a:solidFill>
                  <a:srgbClr val="868A95"/>
                </a:solidFill>
                <a:latin typeface="Calibri"/>
              </a:rPr>
              <a:t>Pravadh Labs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6510528"/>
            <a:ext cx="3977639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 i="0">
                <a:solidFill>
                  <a:srgbClr val="868A95"/>
                </a:solidFill>
                <a:latin typeface="Calibri"/>
              </a:rPr>
              <a:t>Confidential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412480" cy="64008"/>
          </a:xfrm>
          <a:prstGeom prst="rect">
            <a:avLst/>
          </a:prstGeom>
          <a:solidFill>
            <a:srgbClr val="1E5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0" y="0"/>
            <a:ext cx="3779215" cy="64008"/>
          </a:xfrm>
          <a:prstGeom prst="rect">
            <a:avLst/>
          </a:prstGeom>
          <a:solidFill>
            <a:srgbClr val="FD9E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8412480" cy="292608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100" b="0" i="0">
                <a:solidFill>
                  <a:srgbClr val="1E5CEE"/>
                </a:solidFill>
                <a:latin typeface="Consolas"/>
              </a:rPr>
              <a:t>BUSINESS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256032"/>
            <a:ext cx="14630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0" i="0">
                <a:solidFill>
                  <a:srgbClr val="868A95"/>
                </a:solidFill>
                <a:latin typeface="Consolas"/>
              </a:rPr>
              <a:t>09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566928"/>
            <a:ext cx="11128248" cy="6858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0"/>
              </a:spcAft>
            </a:pPr>
            <a:r>
              <a:rPr sz="2400" b="0" i="0">
                <a:solidFill>
                  <a:srgbClr val="0B142A"/>
                </a:solidFill>
                <a:latin typeface="Georgia"/>
              </a:rPr>
              <a:t>SaaS per product. Expand on the account. Partners on cash collected.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371600"/>
            <a:ext cx="5468112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4D4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0352" y="1371600"/>
            <a:ext cx="5388112" cy="41148"/>
          </a:xfrm>
          <a:prstGeom prst="rect">
            <a:avLst/>
          </a:prstGeom>
          <a:solidFill>
            <a:srgbClr val="1E5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" y="1481328"/>
            <a:ext cx="5175504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B142A"/>
                </a:solidFill>
                <a:latin typeface="Calibri"/>
              </a:rPr>
              <a:t>PravadhIQ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A6070"/>
                </a:solidFill>
                <a:latin typeface="Calibri"/>
              </a:rPr>
              <a:t>Land the CRM org. Services attach on complex migrations.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000" b="0" i="0">
                <a:solidFill>
                  <a:srgbClr val="FD9E01"/>
                </a:solidFill>
                <a:latin typeface="Consolas"/>
              </a:rPr>
              <a:t>LAND · EXPAND · MIGRATE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63056" y="1371600"/>
            <a:ext cx="5468112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4D4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03056" y="1371600"/>
            <a:ext cx="5388112" cy="41148"/>
          </a:xfrm>
          <a:prstGeom prst="rect">
            <a:avLst/>
          </a:prstGeom>
          <a:solidFill>
            <a:srgbClr val="FD9E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481328"/>
            <a:ext cx="5175504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B142A"/>
                </a:solidFill>
                <a:latin typeface="Calibri"/>
              </a:rPr>
              <a:t>GovernX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A6070"/>
                </a:solidFill>
                <a:latin typeface="Calibri"/>
              </a:rPr>
              <a:t>Platform as systems connect. EMIE as the copilot on the canvas.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000" b="0" i="0">
                <a:solidFill>
                  <a:srgbClr val="FD9E01"/>
                </a:solidFill>
                <a:latin typeface="Consolas"/>
              </a:rPr>
              <a:t>TRIAL → PLATFORM → EMIE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" y="1588643355600"/>
            <a:ext cx="5468112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4D4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70352" y="1588643355600"/>
            <a:ext cx="5388112" cy="41148"/>
          </a:xfrm>
          <a:prstGeom prst="rect">
            <a:avLst/>
          </a:prstGeom>
          <a:solidFill>
            <a:srgbClr val="1E5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1588643465328"/>
            <a:ext cx="5175504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B142A"/>
                </a:solidFill>
                <a:latin typeface="Calibri"/>
              </a:rPr>
              <a:t>Pravadh PM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A6070"/>
                </a:solidFill>
                <a:latin typeface="Calibri"/>
              </a:rPr>
              <a:t>Seats. White-label and private runtime at a premium. Source stays with Labs.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000" b="0" i="0">
                <a:solidFill>
                  <a:srgbClr val="FD9E01"/>
                </a:solidFill>
                <a:latin typeface="Consolas"/>
              </a:rPr>
              <a:t>CLOUD · BRAND · VPC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3056" y="1588643355600"/>
            <a:ext cx="5468112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4D4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03056" y="1588643355600"/>
            <a:ext cx="5388112" cy="41148"/>
          </a:xfrm>
          <a:prstGeom prst="rect">
            <a:avLst/>
          </a:prstGeom>
          <a:solidFill>
            <a:srgbClr val="FD9E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1588643465328"/>
            <a:ext cx="5175504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B142A"/>
                </a:solidFill>
                <a:latin typeface="Calibri"/>
              </a:rPr>
              <a:t>Pravadh SI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A6070"/>
                </a:solidFill>
                <a:latin typeface="Calibri"/>
              </a:rPr>
              <a:t>Revenue motion on their CRM. Intro pricing through 31 Dec 2026.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000" b="0" i="0">
                <a:solidFill>
                  <a:srgbClr val="FD9E01"/>
                </a:solidFill>
                <a:latin typeface="Consolas"/>
              </a:rPr>
              <a:t>CONNECT · QUALIFY · WRITE BACK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0352" y="4846320"/>
            <a:ext cx="2670048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D4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" y="4956048"/>
            <a:ext cx="2414016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0" i="0">
                <a:solidFill>
                  <a:srgbClr val="1E5CEE"/>
                </a:solidFill>
                <a:latin typeface="Georgia"/>
              </a:rPr>
              <a:t>20%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070"/>
                </a:solidFill>
                <a:latin typeface="Calibri"/>
              </a:rPr>
              <a:t>Partner share of collected revenue, while the customer pays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28416" y="4846320"/>
            <a:ext cx="2670048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D4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0" y="4956048"/>
            <a:ext cx="2414016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0" i="0">
                <a:solidFill>
                  <a:srgbClr val="1E5CEE"/>
                </a:solidFill>
                <a:latin typeface="Georgia"/>
              </a:rPr>
              <a:t>5%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070"/>
                </a:solidFill>
                <a:latin typeface="Calibri"/>
              </a:rPr>
              <a:t>One-level referral — stops when that customer stops paying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4846320"/>
            <a:ext cx="2670048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D4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72784" y="4956048"/>
            <a:ext cx="2414016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0" i="0">
                <a:solidFill>
                  <a:srgbClr val="1E5CEE"/>
                </a:solidFill>
                <a:latin typeface="Georgia"/>
              </a:rPr>
              <a:t>0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070"/>
                </a:solidFill>
                <a:latin typeface="Calibri"/>
              </a:rPr>
              <a:t>Commission on unpaid invoices or verbal pipeline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24544" y="4846320"/>
            <a:ext cx="2670048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D4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70848" y="4956048"/>
            <a:ext cx="2414016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0" i="0">
                <a:solidFill>
                  <a:srgbClr val="1E5CEE"/>
                </a:solidFill>
                <a:latin typeface="Georgia"/>
              </a:rPr>
              <a:t>1 rail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070"/>
                </a:solidFill>
                <a:latin typeface="Calibri"/>
              </a:rPr>
              <a:t>Cross-sell is the next job on the same org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" y="6510528"/>
            <a:ext cx="6766560" cy="256032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100" b="0" i="0">
                <a:solidFill>
                  <a:srgbClr val="868A95"/>
                </a:solidFill>
                <a:latin typeface="Calibri"/>
              </a:rPr>
              <a:t>Pravadh Labs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0" y="6510528"/>
            <a:ext cx="3977639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 i="0">
                <a:solidFill>
                  <a:srgbClr val="868A95"/>
                </a:solidFill>
                <a:latin typeface="Calibri"/>
              </a:rPr>
              <a:t>Confidential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412480" cy="64008"/>
          </a:xfrm>
          <a:prstGeom prst="rect">
            <a:avLst/>
          </a:prstGeom>
          <a:solidFill>
            <a:srgbClr val="1E5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0" y="0"/>
            <a:ext cx="3779215" cy="64008"/>
          </a:xfrm>
          <a:prstGeom prst="rect">
            <a:avLst/>
          </a:prstGeom>
          <a:solidFill>
            <a:srgbClr val="FD9E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8412480" cy="292608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100" b="0" i="0">
                <a:solidFill>
                  <a:srgbClr val="FD9E01"/>
                </a:solidFill>
                <a:latin typeface="Consolas"/>
              </a:rPr>
              <a:t>GO-TO-MARKET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256032"/>
            <a:ext cx="14630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0" i="0">
                <a:solidFill>
                  <a:srgbClr val="868A95"/>
                </a:solidFill>
                <a:latin typeface="Consolas"/>
              </a:rPr>
              <a:t>10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566928"/>
            <a:ext cx="11128248" cy="6400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0"/>
              </a:spcAft>
            </a:pPr>
            <a:r>
              <a:rPr sz="2800" b="0" i="0">
                <a:solidFill>
                  <a:srgbClr val="F7F7F8"/>
                </a:solidFill>
                <a:latin typeface="Georgia"/>
              </a:rPr>
              <a:t>Reach the person who already owns the mess.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417320"/>
            <a:ext cx="5468112" cy="1965960"/>
          </a:xfrm>
          <a:prstGeom prst="roundRect">
            <a:avLst>
              <a:gd name="adj" fmla="val 6000"/>
            </a:avLst>
          </a:prstGeom>
          <a:solidFill>
            <a:srgbClr val="141F3D"/>
          </a:solidFill>
          <a:ln w="12700">
            <a:solidFill>
              <a:srgbClr val="232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0352" y="1417320"/>
            <a:ext cx="5388112" cy="41148"/>
          </a:xfrm>
          <a:prstGeom prst="rect">
            <a:avLst/>
          </a:prstGeom>
          <a:solidFill>
            <a:srgbClr val="1E5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" y="1527048"/>
            <a:ext cx="5175504" cy="17647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7F7F8"/>
                </a:solidFill>
                <a:latin typeface="Calibri"/>
              </a:rPr>
              <a:t>Where they already gather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A9AFC0"/>
                </a:solidFill>
                <a:latin typeface="Calibri"/>
              </a:rPr>
              <a:t>Dreamforce 2026. West Africa Dreamin 2026 sponsor. Live walkthroughs on real deploy, migrate, and governance scenarios — not booth scripts.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63056" y="1417320"/>
            <a:ext cx="5468112" cy="1965960"/>
          </a:xfrm>
          <a:prstGeom prst="roundRect">
            <a:avLst>
              <a:gd name="adj" fmla="val 6000"/>
            </a:avLst>
          </a:prstGeom>
          <a:solidFill>
            <a:srgbClr val="141F3D"/>
          </a:solidFill>
          <a:ln w="12700">
            <a:solidFill>
              <a:srgbClr val="232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03056" y="1417320"/>
            <a:ext cx="5388112" cy="41148"/>
          </a:xfrm>
          <a:prstGeom prst="rect">
            <a:avLst/>
          </a:prstGeom>
          <a:solidFill>
            <a:srgbClr val="FD9E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527048"/>
            <a:ext cx="5175504" cy="17647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7F7F8"/>
                </a:solidFill>
                <a:latin typeface="Calibri"/>
              </a:rPr>
              <a:t>Who already sits with them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A9AFC0"/>
                </a:solidFill>
                <a:latin typeface="Calibri"/>
              </a:rPr>
              <a:t>SIs introduce a qualified CRM buyer. We run product and delivery. They earn on cash we actually collect.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" y="1948178166119"/>
            <a:ext cx="5468112" cy="1965960"/>
          </a:xfrm>
          <a:prstGeom prst="roundRect">
            <a:avLst>
              <a:gd name="adj" fmla="val 6000"/>
            </a:avLst>
          </a:prstGeom>
          <a:solidFill>
            <a:srgbClr val="141F3D"/>
          </a:solidFill>
          <a:ln w="12700">
            <a:solidFill>
              <a:srgbClr val="232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70352" y="1948178166119"/>
            <a:ext cx="5388112" cy="41148"/>
          </a:xfrm>
          <a:prstGeom prst="rect">
            <a:avLst/>
          </a:prstGeom>
          <a:solidFill>
            <a:srgbClr val="1E5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1948178275847"/>
            <a:ext cx="5175504" cy="17647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7F7F8"/>
                </a:solidFill>
                <a:latin typeface="Calibri"/>
              </a:rPr>
              <a:t>How they try it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A9AFC0"/>
                </a:solidFill>
                <a:latin typeface="Calibri"/>
              </a:rPr>
              <a:t>GovernX and PM trials on the public products. SI intro pricing through year-end. IQ through real migration conversations.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3056" y="1948178166119"/>
            <a:ext cx="5468112" cy="1965960"/>
          </a:xfrm>
          <a:prstGeom prst="roundRect">
            <a:avLst>
              <a:gd name="adj" fmla="val 6000"/>
            </a:avLst>
          </a:prstGeom>
          <a:solidFill>
            <a:srgbClr val="141F3D"/>
          </a:solidFill>
          <a:ln w="12700">
            <a:solidFill>
              <a:srgbClr val="232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03056" y="1948178166119"/>
            <a:ext cx="5388112" cy="41148"/>
          </a:xfrm>
          <a:prstGeom prst="rect">
            <a:avLst/>
          </a:prstGeom>
          <a:solidFill>
            <a:srgbClr val="FD9E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1948178275847"/>
            <a:ext cx="5175504" cy="17647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7F7F8"/>
                </a:solidFill>
                <a:latin typeface="Calibri"/>
              </a:rPr>
              <a:t>Where we build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A9AFC0"/>
                </a:solidFill>
                <a:latin typeface="Calibri"/>
              </a:rPr>
              <a:t>Founder-led across Ahmedabad, Bengaluru, and Jaipur. Cost-efficient product. Buyer access through the Salesforce ecosystem as an ISV partner.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" y="6510528"/>
            <a:ext cx="6766560" cy="256032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100" b="0" i="0">
                <a:solidFill>
                  <a:srgbClr val="868A95"/>
                </a:solidFill>
                <a:latin typeface="Calibri"/>
              </a:rPr>
              <a:t>Pravadh Labs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6510528"/>
            <a:ext cx="3977639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 i="0">
                <a:solidFill>
                  <a:srgbClr val="868A95"/>
                </a:solidFill>
                <a:latin typeface="Calibri"/>
              </a:rPr>
              <a:t>Confidential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412480" cy="64008"/>
          </a:xfrm>
          <a:prstGeom prst="rect">
            <a:avLst/>
          </a:prstGeom>
          <a:solidFill>
            <a:srgbClr val="1E5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0" y="0"/>
            <a:ext cx="3779215" cy="64008"/>
          </a:xfrm>
          <a:prstGeom prst="rect">
            <a:avLst/>
          </a:prstGeom>
          <a:solidFill>
            <a:srgbClr val="FD9E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8412480" cy="292608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100" b="0" i="0">
                <a:solidFill>
                  <a:srgbClr val="1E5CEE"/>
                </a:solidFill>
                <a:latin typeface="Consolas"/>
              </a:rPr>
              <a:t>FOUNDER / TEAM ADVANTAGE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256032"/>
            <a:ext cx="14630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0" i="0">
                <a:solidFill>
                  <a:srgbClr val="868A95"/>
                </a:solidFill>
                <a:latin typeface="Consolas"/>
              </a:rPr>
              <a:t>11 / 12</a:t>
            </a:r>
          </a:p>
        </p:txBody>
      </p:sp>
      <p:pic>
        <p:nvPicPr>
          <p:cNvPr id="6" name="Picture 5" descr="dhairya-sha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051560"/>
            <a:ext cx="2331720" cy="272491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30352" y="1051560"/>
            <a:ext cx="2331720" cy="41148"/>
          </a:xfrm>
          <a:prstGeom prst="rect">
            <a:avLst/>
          </a:prstGeom>
          <a:solidFill>
            <a:srgbClr val="1E5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08960" y="1051560"/>
            <a:ext cx="7955279" cy="50292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3200" b="0" i="0">
                <a:solidFill>
                  <a:srgbClr val="0B142A"/>
                </a:solidFill>
                <a:latin typeface="Georgia"/>
              </a:rPr>
              <a:t>Dhairya Shah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1554480"/>
            <a:ext cx="7955279" cy="292608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200" b="0" i="0">
                <a:solidFill>
                  <a:srgbClr val="5A6070"/>
                </a:solidFill>
                <a:latin typeface="Consolas"/>
              </a:rPr>
              <a:t>FOUNDER · ENTERPRISE / SALESFORCE ARCHITECT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1965960"/>
            <a:ext cx="795527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1E5CEE"/>
                </a:solidFill>
                <a:latin typeface="Calibri"/>
              </a:rPr>
              <a:t>—  </a:t>
            </a:r>
            <a:r>
              <a:rPr sz="1600" b="0" i="0">
                <a:solidFill>
                  <a:srgbClr val="5A6070"/>
                </a:solidFill>
                <a:latin typeface="Calibri"/>
              </a:rPr>
              <a:t>11+ years in Salesforce and enterprise architecture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1E5CEE"/>
                </a:solidFill>
                <a:latin typeface="Calibri"/>
              </a:rPr>
              <a:t>—  </a:t>
            </a:r>
            <a:r>
              <a:rPr sz="1600" b="0" i="0">
                <a:solidFill>
                  <a:srgbClr val="5A6070"/>
                </a:solidFill>
                <a:latin typeface="Calibri"/>
              </a:rPr>
              <a:t>Former VP — Salesforce Practice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1E5CEE"/>
                </a:solidFill>
                <a:latin typeface="Calibri"/>
              </a:rPr>
              <a:t>—  </a:t>
            </a:r>
            <a:r>
              <a:rPr sz="1600" b="0" i="0">
                <a:solidFill>
                  <a:srgbClr val="5A6070"/>
                </a:solidFill>
                <a:latin typeface="Calibri"/>
              </a:rPr>
              <a:t>Agentblazer Legend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1E5CEE"/>
                </a:solidFill>
                <a:latin typeface="Calibri"/>
              </a:rPr>
              <a:t>—  </a:t>
            </a:r>
            <a:r>
              <a:rPr sz="1600" b="0" i="0">
                <a:solidFill>
                  <a:srgbClr val="5A6070"/>
                </a:solidFill>
                <a:latin typeface="Calibri"/>
              </a:rPr>
              <a:t>Practitioner-led product development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4023360"/>
            <a:ext cx="11128248" cy="201168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600" b="0" i="0">
                <a:solidFill>
                  <a:srgbClr val="5A6070"/>
                </a:solidFill>
                <a:latin typeface="Calibri"/>
              </a:rPr>
              <a:t>The rail is the productisation of work he has already run for CRM orgs — not a thesis from outside the stack. Small team across Ahmedabad, Bengaluru, and Jaipur. This round hires engineering, customer success, and partner sales to scale that motion.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6510528"/>
            <a:ext cx="6766560" cy="256032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100" b="0" i="0">
                <a:solidFill>
                  <a:srgbClr val="868A95"/>
                </a:solidFill>
                <a:latin typeface="Calibri"/>
              </a:rPr>
              <a:t>Pravadh Labs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6510528"/>
            <a:ext cx="3977639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 i="0">
                <a:solidFill>
                  <a:srgbClr val="868A95"/>
                </a:solidFill>
                <a:latin typeface="Calibri"/>
              </a:rPr>
              <a:t>Confidential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412480" cy="64008"/>
          </a:xfrm>
          <a:prstGeom prst="rect">
            <a:avLst/>
          </a:prstGeom>
          <a:solidFill>
            <a:srgbClr val="1E5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0" y="0"/>
            <a:ext cx="3779215" cy="64008"/>
          </a:xfrm>
          <a:prstGeom prst="rect">
            <a:avLst/>
          </a:prstGeom>
          <a:solidFill>
            <a:srgbClr val="FD9E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30352" y="256032"/>
            <a:ext cx="384048" cy="384048"/>
          </a:xfrm>
          <a:prstGeom prst="roundRect">
            <a:avLst>
              <a:gd name="adj" fmla="val 18000"/>
            </a:avLst>
          </a:prstGeom>
          <a:solidFill>
            <a:srgbClr val="1E5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Georgia"/>
              </a:rPr>
              <a:t>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274320"/>
            <a:ext cx="2926080" cy="347472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800" b="0" i="0">
                <a:solidFill>
                  <a:srgbClr val="F7F7F8"/>
                </a:solidFill>
                <a:latin typeface="Georgia"/>
              </a:rPr>
              <a:t>Pravadh® Labs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310896"/>
            <a:ext cx="2331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 i="0">
                <a:solidFill>
                  <a:srgbClr val="FD9E01"/>
                </a:solidFill>
                <a:latin typeface="Consolas"/>
              </a:rPr>
              <a:t>THE 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868680"/>
            <a:ext cx="11128248" cy="6400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0"/>
              </a:spcAft>
            </a:pPr>
            <a:r>
              <a:rPr sz="2800" b="0" i="0">
                <a:solidFill>
                  <a:srgbClr val="F7F7F8"/>
                </a:solidFill>
                <a:latin typeface="Georgia"/>
              </a:rPr>
              <a:t>₹3–5 Cr to put the rail in front of more CRM orgs.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554480"/>
            <a:ext cx="10424160" cy="6400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0"/>
              </a:spcAft>
            </a:pPr>
            <a:r>
              <a:rPr sz="1600" b="0" i="0">
                <a:solidFill>
                  <a:srgbClr val="A9AFC0"/>
                </a:solidFill>
                <a:latin typeface="Calibri"/>
              </a:rPr>
              <a:t>The products exist. The buyer is named. This round is distribution, certifications, and the team to run more of the same — not a rebuild.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2331720"/>
            <a:ext cx="11128248" cy="2331720"/>
          </a:xfrm>
          <a:prstGeom prst="roundRect">
            <a:avLst>
              <a:gd name="adj" fmla="val 4000"/>
            </a:avLst>
          </a:prstGeom>
          <a:solidFill>
            <a:srgbClr val="141F3D"/>
          </a:solidFill>
          <a:ln w="12700">
            <a:solidFill>
              <a:srgbClr val="FD9E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450592"/>
            <a:ext cx="10424160" cy="41148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2400" b="0" i="0">
                <a:solidFill>
                  <a:srgbClr val="F7F7F8"/>
                </a:solidFill>
                <a:latin typeface="Georgia"/>
              </a:rPr>
              <a:t>Use of funds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926080"/>
            <a:ext cx="5120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1" i="0">
                <a:solidFill>
                  <a:srgbClr val="F7F7F8"/>
                </a:solidFill>
                <a:latin typeface="Calibri"/>
              </a:rPr>
              <a:t>GTM  </a:t>
            </a:r>
            <a:r>
              <a:rPr sz="1500" b="0" i="0">
                <a:solidFill>
                  <a:srgbClr val="A9AFC0"/>
                </a:solidFill>
                <a:latin typeface="Calibri"/>
              </a:rPr>
              <a:t>Dreamforce, SI partners, customer success on the named buyer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7F7F8"/>
                </a:solidFill>
                <a:latin typeface="Calibri"/>
              </a:rPr>
              <a:t>Product  </a:t>
            </a:r>
            <a:r>
              <a:rPr sz="1500" b="0" i="0">
                <a:solidFill>
                  <a:srgbClr val="A9AFC0"/>
                </a:solidFill>
                <a:latin typeface="Calibri"/>
              </a:rPr>
              <a:t>EMIE, connectors, mapping depth on the rail that already ships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92608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1" i="0">
                <a:solidFill>
                  <a:srgbClr val="F7F7F8"/>
                </a:solidFill>
                <a:latin typeface="Calibri"/>
              </a:rPr>
              <a:t>Trust  </a:t>
            </a:r>
            <a:r>
              <a:rPr sz="1500" b="0" i="0">
                <a:solidFill>
                  <a:srgbClr val="A9AFC0"/>
                </a:solidFill>
                <a:latin typeface="Calibri"/>
              </a:rPr>
              <a:t>SOC 2, ISO 27001, GDPR / DPDP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7F7F8"/>
                </a:solidFill>
                <a:latin typeface="Calibri"/>
              </a:rPr>
              <a:t>Team  </a:t>
            </a:r>
            <a:r>
              <a:rPr sz="1500" b="0" i="0">
                <a:solidFill>
                  <a:srgbClr val="A9AFC0"/>
                </a:solidFill>
                <a:latin typeface="Calibri"/>
              </a:rPr>
              <a:t>engineering, partnerships, delivery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489204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500" b="0" i="0">
                <a:solidFill>
                  <a:srgbClr val="FD9E01"/>
                </a:solidFill>
                <a:latin typeface="Calibri"/>
                <a:hlinkClick r:id="rId2"/>
              </a:rPr>
              <a:t>inquire@pravadhlabs.com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19272" y="489204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500" b="0" i="0">
                <a:solidFill>
                  <a:srgbClr val="FD9E01"/>
                </a:solidFill>
                <a:latin typeface="Calibri"/>
                <a:hlinkClick r:id="rId3"/>
              </a:rPr>
              <a:t>+91 99985 25192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08192" y="489204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500" b="0" i="0">
                <a:solidFill>
                  <a:srgbClr val="FD9E01"/>
                </a:solidFill>
                <a:latin typeface="Calibri"/>
                <a:hlinkClick r:id="rId4"/>
              </a:rPr>
              <a:t>Calendly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97112" y="489204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500" b="0" i="0">
                <a:solidFill>
                  <a:srgbClr val="FD9E01"/>
                </a:solidFill>
                <a:latin typeface="Calibri"/>
                <a:hlinkClick r:id="rId5"/>
              </a:rPr>
              <a:t>pravadhlabs.com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5349240"/>
            <a:ext cx="11128248" cy="64008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400" b="0" i="0">
                <a:solidFill>
                  <a:srgbClr val="A9AFC0"/>
                </a:solidFill>
                <a:latin typeface="Calibri"/>
              </a:rPr>
              <a:t>Pravadh Labs Private Limited · Ahmedabad · Bengaluru · Jaipur · Instrument and dilution in conversation.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6510528"/>
            <a:ext cx="6766560" cy="256032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100" b="0" i="0">
                <a:solidFill>
                  <a:srgbClr val="868A95"/>
                </a:solidFill>
                <a:latin typeface="Calibri"/>
              </a:rPr>
              <a:t>Confidential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6510528"/>
            <a:ext cx="3977639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 i="0">
                <a:solidFill>
                  <a:srgbClr val="868A95"/>
                </a:solidFill>
                <a:latin typeface="Calibri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Pravadh Labs — Investor Deck 2026</dc:title>
  <dc:subject>Confidential</dc:subject>
  <dc:creator>Pravadh Labs Private Limited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Investor</cp:category>
</cp:coreProperties>
</file>